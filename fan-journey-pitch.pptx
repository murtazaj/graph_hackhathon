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4e2d40f-664c-dd4a-6d84-73f1cec3c782}">
          <p14:sldIdLst>
            <p14:sldId id="256"/>
          </p14:sldIdLst>
        </p14:section>
        <p14:section name="Problem" id="{ae68ab4f-e66e-fff2-c4f8-5db531737e50}">
          <p14:sldIdLst>
            <p14:sldId id="257"/>
          </p14:sldIdLst>
        </p14:section>
        <p14:section name="Solution" id="{c98d1b86-1dee-df4c-5771-a5e8761e5441}">
          <p14:sldIdLst>
            <p14:sldId id="258"/>
            <p14:sldId id="259"/>
          </p14:sldIdLst>
        </p14:section>
        <p14:section name="Results" id="{7f5b919f-8dab-420a-1845-0f5f5b4fc3a9}">
          <p14:sldIdLst>
            <p14:sldId id="260"/>
            <p14:sldId id="261"/>
          </p14:sldIdLst>
        </p14:section>
        <p14:section name="Next" id="{917a64f8-0a28-c2f9-9371-d5264118a3c6}">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B3ACC7"/>
                </a:solidFill>
                <a:latin typeface="+mn-lt"/>
              </a:defRPr>
            </a:pPr>
            <a:r>
              <a:rPr sz="1200" b="0" i="0" u="none" strike="noStrike">
                <a:solidFill>
                  <a:srgbClr val="B3ACC7"/>
                </a:solidFill>
                <a:latin typeface="+mn-lt"/>
              </a:rPr>
              <a:t>Ticket revenue within 7 days of an email click (EUR)</a:t>
            </a:r>
          </a:p>
        </c:rich>
      </c:tx>
      <c:layout/>
      <c:overlay val="0"/>
    </c:title>
    <c:autoTitleDeleted val="0"/>
    <c:plotArea>
      <c:layout/>
      <c:barChart>
        <c:barDir val="bar"/>
        <c:grouping val="clustered"/>
        <c:varyColors val="0"/>
        <c:ser>
          <c:idx val="0"/>
          <c:order val="0"/>
          <c:tx>
            <c:strRef>
              <c:f>Sheet1!$B$1</c:f>
              <c:strCache>
                <c:ptCount val="1"/>
                <c:pt idx="0">
                  <c:v>Attributed revenue (EUR)</c:v>
                </c:pt>
              </c:strCache>
            </c:strRef>
          </c:tx>
          <c:spPr>
            <a:solidFill>
              <a:srgbClr val="FF3D7F"/>
            </a:solidFill>
            <a:effectLst/>
          </c:spPr>
          <c:invertIfNegative val="0"/>
          <c:dLbls>
            <c:numFmt formatCode="€#,##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cat>
            <c:multiLvlStrRef>
              <c:f>Sheet1!$A$2:$A$9</c:f>
              <c:multiLvlStrCache>
                <c:ptCount val="8"/>
                <c:lvl>
                  <c:pt idx="0">
                    <c:v>Lineup drop: Tiefgrün 2027</c:v>
                  </c:pt>
                  <c:pt idx="1">
                    <c:v>Newsletter Aug 2026</c:v>
                  </c:pt>
                  <c:pt idx="2">
                    <c:v>Lineup drop: Nordlicht 2027</c:v>
                  </c:pt>
                  <c:pt idx="3">
                    <c:v>Newsletter Apr 2026</c:v>
                  </c:pt>
                  <c:pt idx="4">
                    <c:v>Newsletter May 2026</c:v>
                  </c:pt>
                  <c:pt idx="5">
                    <c:v>Newsletter Oct 2026</c:v>
                  </c:pt>
                  <c:pt idx="6">
                    <c:v>Newsletter Jun 2026</c:v>
                  </c:pt>
                  <c:pt idx="7">
                    <c:v>Newsletter Jul 2026</c:v>
                  </c:pt>
                </c:lvl>
              </c:multiLvlStrCache>
            </c:multiLvlStrRef>
          </c:cat>
          <c:val>
            <c:numRef>
              <c:f>Sheet1!$B$2:$B$9</c:f>
              <c:numCache>
                <c:formatCode>General</c:formatCode>
                <c:ptCount val="8"/>
                <c:pt idx="0">
                  <c:v>17787</c:v>
                </c:pt>
                <c:pt idx="1">
                  <c:v>27314</c:v>
                </c:pt>
                <c:pt idx="2">
                  <c:v>27816</c:v>
                </c:pt>
                <c:pt idx="3">
                  <c:v>28675</c:v>
                </c:pt>
                <c:pt idx="4">
                  <c:v>29078</c:v>
                </c:pt>
                <c:pt idx="5">
                  <c:v>30901</c:v>
                </c:pt>
                <c:pt idx="6">
                  <c:v>33227</c:v>
                </c:pt>
                <c:pt idx="7">
                  <c:v>34275</c:v>
                </c:pt>
              </c:numCache>
            </c:numRef>
          </c:val>
        </c:ser>
        <c:dLbls>
          <c:numFmt formatCode="€#,##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B3ACC7"/>
                </a:solidFill>
                <a:latin typeface="+mn-lt"/>
              </a:defRPr>
            </a:pPr>
            <a:endParaRPr lang="en-US"/>
          </a:p>
        </c:txPr>
        <c:crossAx val="2094734552"/>
        <c:crosses val="autoZero"/>
        <c:auto val="1"/>
        <c:lblAlgn val="ctr"/>
        <c:noMultiLvlLbl val="1"/>
      </c:catAx>
      <c:valAx>
        <c:axId val="2094734552"/>
        <c:scaling>
          <c:orientation val="minMax"/>
          <c:max val="42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Hi, I'm Murtaza. For the hackathon I built the Fan Journey Graph: one Neo4j graph that connects everything a live-events promoter knows about its fans.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[0:10–0:35] A promoter's fan data is split three ways: the CRM knows who the fan is, ticketing knows what they bought and whether they came, and email knows what we sent them. The questions marketing actually asks, like who to email about a show or which campaign sold tickets, need all three at once. Today that means exports and spreadsheets.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[0:35–1:05] So I modelled the whole journey as one graph. Fans place orders for events; artists perform at events; events are editions of festivals; campaigns promote events; and fans receive, open and click campaigns, follow artists and like genres. It's 3,000 fictional fans, about 8,400 orders, 94 events, 40 artists and 28 campaigns. Order is its own node because it has its own data, like price and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[1:05–1:30] The pipeline is four small Python scripts. Generate writes the synthetic data. Load pushes it into Aura through the hosted MCP server, so there's no driver or password to manage, just a browser sign-in. Then eight Cypher queries answer the business questions, and because they go through MCP, a coding agent can run the same queries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[1:30–2:05] Here's what comes back, each from a single query. 118 fans went to every Nordlicht Festival so far but haven't bought 2027 yet: that's a win-back list. 395 fans got about nine emails in six months and opened none, so we should stop mailing them. 610 fans never told us their genre, but their ticket history says Pop. And Kollaps Kids fans are over five times as likely to buy The Kerosene Saints, which is a booking and co-marketing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[2:05–2:35] Attribution is just a path in the graph: a fan clicks a campaign, the campaign promotes an event, and the same fan orders that event within seven days. The July newsletter alone drove about 34,000 euros. And for a show nobody has marketed yet, Nova Kaiser in Berlin, the graph ranks fans who follow the artist, bought similar acts and live in the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[2:35–3:00] Next, I'd put an agent on the Aura MCP server so a marketer can just ask “who should I email about this show?”, add Agent Memory so it remembers their segments, and swap in real exports. The model doesn't change. The data is synthetic, but the questions are real.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1511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6692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Title</a:t>
            </a:r>
            <a:endParaRPr lang="en-US" sz="4400" dirty="0"/>
          </a:p>
        </p:txBody>
      </p:sp>
      <p:sp>
        <p:nvSpPr>
          <p:cNvPr id="3" name="Text 0"/>
          <p:cNvSpPr/>
          <p:nvPr>
            <p:ph idx="101" type="body" hasCustomPrompt="1"/>
          </p:nvPr>
        </p:nvSpPr>
        <p:spPr>
          <a:xfrm>
            <a:off x="548640" y="3017520"/>
            <a:ext cx="5486400" cy="9144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r>
              <a:rPr lang="en-US" sz="1800" dirty="0">
                <a:solidFill>
                  <a:schemeClr val="bg2"/>
                </a:solidFill>
              </a:rPr>
              <a:t>Subtitle</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Dark">
    <p:bg>
      <p:bgPr>
        <a:solidFill>
          <a:srgbClr val="1511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r>
              <a:rPr lang="en-US" sz="3000" b="1" dirty="0">
                <a:solidFill>
                  <a:schemeClr val="bg1"/>
                </a:solidFill>
              </a:rPr>
              <a:t>Title</a:t>
            </a:r>
            <a:endParaRPr lang="en-US" sz="30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bg2"/>
                </a:solidFill>
              </a:rPr>
              <a:t>Fan Journey Graph  ·  Neo4j Mini Agentic Hack</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art Dark">
    <p:bg>
      <p:bgPr>
        <a:solidFill>
          <a:srgbClr val="1511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r>
              <a:rPr lang="en-US" sz="3000" b="1" dirty="0">
                <a:solidFill>
                  <a:schemeClr val="bg1"/>
                </a:solidFill>
              </a:rPr>
              <a:t>Title</a:t>
            </a:r>
            <a:endParaRPr lang="en-US" sz="3000" dirty="0"/>
          </a:p>
        </p:txBody>
      </p:sp>
      <p:sp>
        <p:nvSpPr>
          <p:cNvPr id="3" name="Text 0"/>
          <p:cNvSpPr/>
          <p:nvPr>
            <p:ph idx="101" type="chart" hasCustomPrompt="1"/>
          </p:nvPr>
        </p:nvSpPr>
        <p:spPr>
          <a:xfrm>
            <a:off x="457200" y="1188720"/>
            <a:ext cx="4937760" cy="3383280"/>
          </a:xfrm>
          <a:prstGeom prst="rect">
            <a:avLst/>
          </a:prstGeom>
          <a:noFill/>
          <a:ln/>
        </p:spPr>
        <p:txBody>
          <a:bodyPr wrap="square" rtlCol="0"/>
          <a:lstStyle>
            <a:lvl1pPr indent="0" marL="0">
              <a:buNone/>
              <a:defRPr lang="en-US" dirty="0">
                <a:solidFill>
                  <a:schemeClr val="bg1"/>
                </a:solidFill>
              </a:defRPr>
            </a:lvl1pPr>
          </a:lstStyle>
          <a:p>
            <a:pPr indent="0" marL="0">
              <a:buNone/>
            </a:pPr>
            <a:endParaRPr lang="en-US" dirty="0"/>
          </a:p>
        </p:txBody>
      </p:sp>
      <p:sp>
        <p:nvSpPr>
          <p:cNvPr id="4"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bg2"/>
                </a:solidFill>
              </a:rPr>
              <a:t>Fan Journey Graph  ·  Neo4j Mini Agentic Hack</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669280" cy="1463040"/>
          </a:xfrm>
          <a:prstGeom prst="rect">
            <a:avLst/>
          </a:prstGeom>
          <a:noFill/>
          <a:ln/>
        </p:spPr>
        <p:txBody>
          <a:bodyPr wrap="square" lIns="0" tIns="0" rIns="0" bIns="0" rtlCol="0" anchor="b"/>
          <a:lstStyle/>
          <a:p>
            <a:pPr algn="l" indent="0" marL="0">
              <a:buNone/>
            </a:pPr>
            <a:r>
              <a:rPr lang="en-US" sz="4400" b="1" dirty="0">
                <a:solidFill>
                  <a:schemeClr val="bg1"/>
                </a:solidFill>
              </a:rPr>
              <a:t>Fan Journey Graph</a:t>
            </a:r>
            <a:endParaRPr lang="en-US" sz="4400" dirty="0"/>
          </a:p>
        </p:txBody>
      </p:sp>
      <p:sp>
        <p:nvSpPr>
          <p:cNvPr id="3" name="Text 0"/>
          <p:cNvSpPr/>
          <p:nvPr>
            <p:ph idx="101" type="body" hasCustomPrompt="1"/>
          </p:nvPr>
        </p:nvSpPr>
        <p:spPr>
          <a:xfrm>
            <a:off x="548640" y="3017520"/>
            <a:ext cx="5486400" cy="914400"/>
          </a:xfrm>
          <a:prstGeom prst="rect">
            <a:avLst/>
          </a:prstGeom>
          <a:noFill/>
          <a:ln/>
        </p:spPr>
        <p:txBody>
          <a:bodyPr wrap="square" lIns="0" tIns="0" rIns="0" bIns="0" rtlCol="0" anchor="t"/>
          <a:lstStyle/>
          <a:p>
            <a:pPr algn="l" indent="0" marL="0">
              <a:buNone/>
            </a:pPr>
            <a:r>
              <a:rPr lang="en-US" sz="1800" dirty="0">
                <a:solidFill>
                  <a:schemeClr val="bg2"/>
                </a:solidFill>
              </a:rPr>
              <a:t>One graph for fans, tickets, concerts and emails, built on Neo4j Aura and queried through Aura MCP</a:t>
            </a:r>
            <a:endParaRPr lang="en-US" sz="1800" dirty="0"/>
          </a:p>
        </p:txBody>
      </p:sp>
      <p:sp>
        <p:nvSpPr>
          <p:cNvPr id="4" name="motif edge 0"/>
          <p:cNvSpPr/>
          <p:nvPr/>
        </p:nvSpPr>
        <p:spPr>
          <a:xfrm>
            <a:off x="7360920" y="1325880"/>
            <a:ext cx="868680" cy="1051560"/>
          </a:xfrm>
          <a:prstGeom prst="line">
            <a:avLst/>
          </a:prstGeom>
          <a:noFill/>
          <a:ln w="25400">
            <a:solidFill>
              <a:schemeClr val="accent5"/>
            </a:solidFill>
            <a:prstDash val="solid"/>
          </a:ln>
        </p:spPr>
      </p:sp>
      <p:sp>
        <p:nvSpPr>
          <p:cNvPr id="5" name="motif edge 1"/>
          <p:cNvSpPr/>
          <p:nvPr/>
        </p:nvSpPr>
        <p:spPr>
          <a:xfrm flipV="1">
            <a:off x="6903720" y="1325880"/>
            <a:ext cx="457200" cy="1554480"/>
          </a:xfrm>
          <a:prstGeom prst="line">
            <a:avLst/>
          </a:prstGeom>
          <a:noFill/>
          <a:ln w="25400">
            <a:solidFill>
              <a:schemeClr val="accent5"/>
            </a:solidFill>
            <a:prstDash val="solid"/>
          </a:ln>
        </p:spPr>
      </p:sp>
      <p:sp>
        <p:nvSpPr>
          <p:cNvPr id="6" name="motif edge 2"/>
          <p:cNvSpPr/>
          <p:nvPr/>
        </p:nvSpPr>
        <p:spPr>
          <a:xfrm flipV="1">
            <a:off x="7932420" y="2377440"/>
            <a:ext cx="297180" cy="1440180"/>
          </a:xfrm>
          <a:prstGeom prst="line">
            <a:avLst/>
          </a:prstGeom>
          <a:noFill/>
          <a:ln w="25400">
            <a:solidFill>
              <a:schemeClr val="accent5"/>
            </a:solidFill>
            <a:prstDash val="solid"/>
          </a:ln>
        </p:spPr>
      </p:sp>
      <p:sp>
        <p:nvSpPr>
          <p:cNvPr id="7" name="motif edge 3"/>
          <p:cNvSpPr/>
          <p:nvPr/>
        </p:nvSpPr>
        <p:spPr>
          <a:xfrm>
            <a:off x="6903720" y="2880360"/>
            <a:ext cx="1028700" cy="937260"/>
          </a:xfrm>
          <a:prstGeom prst="line">
            <a:avLst/>
          </a:prstGeom>
          <a:noFill/>
          <a:ln w="25400">
            <a:solidFill>
              <a:schemeClr val="accent5"/>
            </a:solidFill>
            <a:prstDash val="solid"/>
          </a:ln>
        </p:spPr>
      </p:sp>
      <p:sp>
        <p:nvSpPr>
          <p:cNvPr id="8" name="motif edge 4"/>
          <p:cNvSpPr/>
          <p:nvPr/>
        </p:nvSpPr>
        <p:spPr>
          <a:xfrm flipV="1">
            <a:off x="7360920" y="1257300"/>
            <a:ext cx="1120140" cy="68580"/>
          </a:xfrm>
          <a:prstGeom prst="line">
            <a:avLst/>
          </a:prstGeom>
          <a:noFill/>
          <a:ln w="25400">
            <a:solidFill>
              <a:schemeClr val="accent5"/>
            </a:solidFill>
            <a:prstDash val="solid"/>
          </a:ln>
        </p:spPr>
      </p:sp>
      <p:sp>
        <p:nvSpPr>
          <p:cNvPr id="9" name="motif edge 5"/>
          <p:cNvSpPr/>
          <p:nvPr/>
        </p:nvSpPr>
        <p:spPr>
          <a:xfrm flipV="1">
            <a:off x="6446520" y="2880360"/>
            <a:ext cx="457200" cy="1188720"/>
          </a:xfrm>
          <a:prstGeom prst="line">
            <a:avLst/>
          </a:prstGeom>
          <a:noFill/>
          <a:ln w="25400">
            <a:solidFill>
              <a:schemeClr val="accent5"/>
            </a:solidFill>
            <a:prstDash val="solid"/>
          </a:ln>
        </p:spPr>
      </p:sp>
      <p:sp>
        <p:nvSpPr>
          <p:cNvPr id="10" name="motif edge 6"/>
          <p:cNvSpPr/>
          <p:nvPr/>
        </p:nvSpPr>
        <p:spPr>
          <a:xfrm flipV="1">
            <a:off x="8229600" y="1257300"/>
            <a:ext cx="251460" cy="1120140"/>
          </a:xfrm>
          <a:prstGeom prst="line">
            <a:avLst/>
          </a:prstGeom>
          <a:noFill/>
          <a:ln w="25400">
            <a:solidFill>
              <a:schemeClr val="accent5"/>
            </a:solidFill>
            <a:prstDash val="solid"/>
          </a:ln>
        </p:spPr>
      </p:sp>
      <p:sp>
        <p:nvSpPr>
          <p:cNvPr id="11" name="motif node 0"/>
          <p:cNvSpPr/>
          <p:nvPr/>
        </p:nvSpPr>
        <p:spPr>
          <a:xfrm>
            <a:off x="6949440" y="914400"/>
            <a:ext cx="822960" cy="822960"/>
          </a:xfrm>
          <a:prstGeom prst="ellipse">
            <a:avLst/>
          </a:prstGeom>
          <a:solidFill>
            <a:schemeClr val="accent1"/>
          </a:solidFill>
          <a:ln w="12700">
            <a:solidFill>
              <a:schemeClr val="accent1"/>
            </a:solidFill>
            <a:prstDash val="solid"/>
          </a:ln>
        </p:spPr>
      </p:sp>
      <p:sp>
        <p:nvSpPr>
          <p:cNvPr id="12" name="motif node 1"/>
          <p:cNvSpPr/>
          <p:nvPr/>
        </p:nvSpPr>
        <p:spPr>
          <a:xfrm>
            <a:off x="7955280" y="2103120"/>
            <a:ext cx="548640" cy="548640"/>
          </a:xfrm>
          <a:prstGeom prst="ellipse">
            <a:avLst/>
          </a:prstGeom>
          <a:solidFill>
            <a:schemeClr val="accent2"/>
          </a:solidFill>
          <a:ln w="12700">
            <a:solidFill>
              <a:schemeClr val="accent2"/>
            </a:solidFill>
            <a:prstDash val="solid"/>
          </a:ln>
        </p:spPr>
      </p:sp>
      <p:sp>
        <p:nvSpPr>
          <p:cNvPr id="13" name="motif node 2"/>
          <p:cNvSpPr/>
          <p:nvPr/>
        </p:nvSpPr>
        <p:spPr>
          <a:xfrm>
            <a:off x="6675120" y="2651760"/>
            <a:ext cx="457200" cy="457200"/>
          </a:xfrm>
          <a:prstGeom prst="ellipse">
            <a:avLst/>
          </a:prstGeom>
          <a:solidFill>
            <a:schemeClr val="accent3"/>
          </a:solidFill>
          <a:ln w="12700">
            <a:solidFill>
              <a:schemeClr val="accent3"/>
            </a:solidFill>
            <a:prstDash val="solid"/>
          </a:ln>
        </p:spPr>
      </p:sp>
      <p:sp>
        <p:nvSpPr>
          <p:cNvPr id="14" name="motif node 3"/>
          <p:cNvSpPr/>
          <p:nvPr/>
        </p:nvSpPr>
        <p:spPr>
          <a:xfrm>
            <a:off x="7589520" y="3474720"/>
            <a:ext cx="685800" cy="685800"/>
          </a:xfrm>
          <a:prstGeom prst="ellipse">
            <a:avLst/>
          </a:prstGeom>
          <a:solidFill>
            <a:schemeClr val="accent4"/>
          </a:solidFill>
          <a:ln w="12700">
            <a:solidFill>
              <a:schemeClr val="accent4"/>
            </a:solidFill>
            <a:prstDash val="solid"/>
          </a:ln>
        </p:spPr>
      </p:sp>
      <p:sp>
        <p:nvSpPr>
          <p:cNvPr id="15" name="motif node 4"/>
          <p:cNvSpPr/>
          <p:nvPr/>
        </p:nvSpPr>
        <p:spPr>
          <a:xfrm>
            <a:off x="8321040" y="1097280"/>
            <a:ext cx="320040" cy="320040"/>
          </a:xfrm>
          <a:prstGeom prst="ellipse">
            <a:avLst/>
          </a:prstGeom>
          <a:solidFill>
            <a:schemeClr val="accent2"/>
          </a:solidFill>
          <a:ln w="12700">
            <a:solidFill>
              <a:schemeClr val="accent2"/>
            </a:solidFill>
            <a:prstDash val="solid"/>
          </a:ln>
        </p:spPr>
      </p:sp>
      <p:sp>
        <p:nvSpPr>
          <p:cNvPr id="16" name="motif node 5"/>
          <p:cNvSpPr/>
          <p:nvPr/>
        </p:nvSpPr>
        <p:spPr>
          <a:xfrm>
            <a:off x="6309360" y="3931920"/>
            <a:ext cx="274320" cy="274320"/>
          </a:xfrm>
          <a:prstGeom prst="ellipse">
            <a:avLst/>
          </a:prstGeom>
          <a:solidFill>
            <a:schemeClr val="accent1"/>
          </a:solidFill>
          <a:ln w="12700">
            <a:solidFill>
              <a:schemeClr val="accent1"/>
            </a:solidFill>
            <a:prstDash val="solid"/>
          </a:ln>
        </p:spPr>
      </p:sp>
      <p:sp>
        <p:nvSpPr>
          <p:cNvPr id="17" name="Text 15"/>
          <p:cNvSpPr txBox="1"/>
          <p:nvPr/>
        </p:nvSpPr>
        <p:spPr>
          <a:xfrm>
            <a:off x="548640" y="4343400"/>
            <a:ext cx="5486400" cy="320040"/>
          </a:xfrm>
          <a:prstGeom prst="rect">
            <a:avLst/>
          </a:prstGeom>
          <a:noFill/>
          <a:ln/>
        </p:spPr>
        <p:txBody>
          <a:bodyPr wrap="square" lIns="0" tIns="0" rIns="0" bIns="0" rtlCol="0" anchor="ctr"/>
          <a:lstStyle/>
          <a:p>
            <a:pPr indent="0" marL="0">
              <a:buNone/>
            </a:pPr>
            <a:r>
              <a:rPr lang="en-US" sz="1200" dirty="0">
                <a:solidFill>
                  <a:schemeClr val="bg2"/>
                </a:solidFill>
              </a:rPr>
              <a:t>Murtaza Jabalpurwala  ·  Neo4j Mini Agentic Hack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Fan data sits in three systems that don't talk</a:t>
            </a:r>
            <a:endParaRPr lang="en-US" sz="3000" dirty="0"/>
          </a:p>
        </p:txBody>
      </p:sp>
      <p:sp>
        <p:nvSpPr>
          <p:cNvPr id="3" name="CRM card"/>
          <p:cNvSpPr/>
          <p:nvPr/>
        </p:nvSpPr>
        <p:spPr>
          <a:xfrm>
            <a:off x="457200" y="1234440"/>
            <a:ext cx="2560320" cy="1600200"/>
          </a:xfrm>
          <a:prstGeom prst="roundRect">
            <a:avLst>
              <a:gd name="adj" fmla="val 6857"/>
            </a:avLst>
          </a:prstGeom>
          <a:solidFill>
            <a:schemeClr val="tx2"/>
          </a:solidFill>
          <a:ln w="12700">
            <a:solidFill>
              <a:schemeClr val="tx2"/>
            </a:solidFill>
            <a:prstDash val="solid"/>
          </a:ln>
        </p:spPr>
      </p:sp>
      <p:sp>
        <p:nvSpPr>
          <p:cNvPr id="4" name="CRM circle"/>
          <p:cNvSpPr/>
          <p:nvPr/>
        </p:nvSpPr>
        <p:spPr>
          <a:xfrm>
            <a:off x="685800" y="1463040"/>
            <a:ext cx="548640" cy="548640"/>
          </a:xfrm>
          <a:prstGeom prst="ellipse">
            <a:avLst/>
          </a:prstGeom>
          <a:solidFill>
            <a:schemeClr val="accent1"/>
          </a:solidFill>
          <a:ln w="12700">
            <a:solidFill>
              <a:schemeClr val="accent1"/>
            </a:solidFill>
            <a:prstDash val="solid"/>
          </a:ln>
        </p:spPr>
      </p:sp>
      <p:pic>
        <p:nvPicPr>
          <p:cNvPr id="5" name="CRM icon" descr="preencoded.png">    </p:cNvPr>
          <p:cNvPicPr>
            <a:picLocks noChangeAspect="1"/>
          </p:cNvPicPr>
          <p:nvPr/>
        </p:nvPicPr>
        <p:blipFill>
          <a:blip r:embed="rId1"/>
          <a:stretch>
            <a:fillRect/>
          </a:stretch>
        </p:blipFill>
        <p:spPr>
          <a:xfrm>
            <a:off x="822960" y="1600200"/>
            <a:ext cx="274320" cy="274320"/>
          </a:xfrm>
          <a:prstGeom prst="rect">
            <a:avLst/>
          </a:prstGeom>
        </p:spPr>
      </p:pic>
      <p:sp>
        <p:nvSpPr>
          <p:cNvPr id="6" name="Text 3"/>
          <p:cNvSpPr txBox="1"/>
          <p:nvPr/>
        </p:nvSpPr>
        <p:spPr>
          <a:xfrm>
            <a:off x="1371600" y="1463040"/>
            <a:ext cx="1463040" cy="548640"/>
          </a:xfrm>
          <a:prstGeom prst="rect">
            <a:avLst/>
          </a:prstGeom>
          <a:noFill/>
          <a:ln/>
        </p:spPr>
        <p:txBody>
          <a:bodyPr wrap="square" lIns="0" tIns="0" rIns="0" bIns="0" rtlCol="0" anchor="ctr"/>
          <a:lstStyle/>
          <a:p>
            <a:pPr indent="0" marL="0">
              <a:buNone/>
            </a:pPr>
            <a:r>
              <a:rPr lang="en-US" sz="2000" b="1" dirty="0">
                <a:solidFill>
                  <a:schemeClr val="bg1"/>
                </a:solidFill>
              </a:rPr>
              <a:t>CRM</a:t>
            </a:r>
            <a:endParaRPr lang="en-US" sz="2000" dirty="0"/>
          </a:p>
        </p:txBody>
      </p:sp>
      <p:sp>
        <p:nvSpPr>
          <p:cNvPr id="7" name="Text 4"/>
          <p:cNvSpPr txBox="1"/>
          <p:nvPr/>
        </p:nvSpPr>
        <p:spPr>
          <a:xfrm>
            <a:off x="685800" y="2103120"/>
            <a:ext cx="2148840" cy="640080"/>
          </a:xfrm>
          <a:prstGeom prst="rect">
            <a:avLst/>
          </a:prstGeom>
          <a:noFill/>
          <a:ln/>
        </p:spPr>
        <p:txBody>
          <a:bodyPr wrap="square" lIns="0" tIns="0" rIns="0" bIns="0" rtlCol="0" anchor="t"/>
          <a:lstStyle/>
          <a:p>
            <a:pPr indent="0" marL="0">
              <a:buNone/>
            </a:pPr>
            <a:r>
              <a:rPr lang="en-US" sz="1300" dirty="0">
                <a:solidFill>
                  <a:schemeClr val="bg2"/>
                </a:solidFill>
              </a:rPr>
              <a:t>Who the fan is, where they live, which artists and genres they like</a:t>
            </a:r>
            <a:endParaRPr lang="en-US" sz="1300" dirty="0"/>
          </a:p>
        </p:txBody>
      </p:sp>
      <p:sp>
        <p:nvSpPr>
          <p:cNvPr id="8" name="Ticketing card"/>
          <p:cNvSpPr/>
          <p:nvPr/>
        </p:nvSpPr>
        <p:spPr>
          <a:xfrm>
            <a:off x="3291840" y="1234440"/>
            <a:ext cx="2560320" cy="1600200"/>
          </a:xfrm>
          <a:prstGeom prst="roundRect">
            <a:avLst>
              <a:gd name="adj" fmla="val 6857"/>
            </a:avLst>
          </a:prstGeom>
          <a:solidFill>
            <a:schemeClr val="tx2"/>
          </a:solidFill>
          <a:ln w="12700">
            <a:solidFill>
              <a:schemeClr val="tx2"/>
            </a:solidFill>
            <a:prstDash val="solid"/>
          </a:ln>
        </p:spPr>
      </p:sp>
      <p:sp>
        <p:nvSpPr>
          <p:cNvPr id="9" name="Ticketing circle"/>
          <p:cNvSpPr/>
          <p:nvPr/>
        </p:nvSpPr>
        <p:spPr>
          <a:xfrm>
            <a:off x="3520440" y="1463040"/>
            <a:ext cx="548640" cy="548640"/>
          </a:xfrm>
          <a:prstGeom prst="ellipse">
            <a:avLst/>
          </a:prstGeom>
          <a:solidFill>
            <a:schemeClr val="accent2"/>
          </a:solidFill>
          <a:ln w="12700">
            <a:solidFill>
              <a:schemeClr val="accent2"/>
            </a:solidFill>
            <a:prstDash val="solid"/>
          </a:ln>
        </p:spPr>
      </p:sp>
      <p:pic>
        <p:nvPicPr>
          <p:cNvPr id="10" name="Ticketing icon" descr="preencoded.png">    </p:cNvPr>
          <p:cNvPicPr>
            <a:picLocks noChangeAspect="1"/>
          </p:cNvPicPr>
          <p:nvPr/>
        </p:nvPicPr>
        <p:blipFill>
          <a:blip r:embed="rId2"/>
          <a:stretch>
            <a:fillRect/>
          </a:stretch>
        </p:blipFill>
        <p:spPr>
          <a:xfrm>
            <a:off x="3657600" y="1600200"/>
            <a:ext cx="274320" cy="274320"/>
          </a:xfrm>
          <a:prstGeom prst="rect">
            <a:avLst/>
          </a:prstGeom>
        </p:spPr>
      </p:pic>
      <p:sp>
        <p:nvSpPr>
          <p:cNvPr id="11" name="Text 7"/>
          <p:cNvSpPr txBox="1"/>
          <p:nvPr/>
        </p:nvSpPr>
        <p:spPr>
          <a:xfrm>
            <a:off x="4206240" y="1463040"/>
            <a:ext cx="1463040" cy="548640"/>
          </a:xfrm>
          <a:prstGeom prst="rect">
            <a:avLst/>
          </a:prstGeom>
          <a:noFill/>
          <a:ln/>
        </p:spPr>
        <p:txBody>
          <a:bodyPr wrap="square" lIns="0" tIns="0" rIns="0" bIns="0" rtlCol="0" anchor="ctr"/>
          <a:lstStyle/>
          <a:p>
            <a:pPr indent="0" marL="0">
              <a:buNone/>
            </a:pPr>
            <a:r>
              <a:rPr lang="en-US" sz="2000" b="1" dirty="0">
                <a:solidFill>
                  <a:schemeClr val="bg1"/>
                </a:solidFill>
              </a:rPr>
              <a:t>Ticketing</a:t>
            </a:r>
            <a:endParaRPr lang="en-US" sz="2000" dirty="0"/>
          </a:p>
        </p:txBody>
      </p:sp>
      <p:sp>
        <p:nvSpPr>
          <p:cNvPr id="12" name="Text 8"/>
          <p:cNvSpPr txBox="1"/>
          <p:nvPr/>
        </p:nvSpPr>
        <p:spPr>
          <a:xfrm>
            <a:off x="3520440" y="2103120"/>
            <a:ext cx="2148840" cy="640080"/>
          </a:xfrm>
          <a:prstGeom prst="rect">
            <a:avLst/>
          </a:prstGeom>
          <a:noFill/>
          <a:ln/>
        </p:spPr>
        <p:txBody>
          <a:bodyPr wrap="square" lIns="0" tIns="0" rIns="0" bIns="0" rtlCol="0" anchor="t"/>
          <a:lstStyle/>
          <a:p>
            <a:pPr indent="0" marL="0">
              <a:buNone/>
            </a:pPr>
            <a:r>
              <a:rPr lang="en-US" sz="1300" dirty="0">
                <a:solidFill>
                  <a:schemeClr val="bg2"/>
                </a:solidFill>
              </a:rPr>
              <a:t>Orders, ticket counts, revenue and who actually showed up</a:t>
            </a:r>
            <a:endParaRPr lang="en-US" sz="1300" dirty="0"/>
          </a:p>
        </p:txBody>
      </p:sp>
      <p:sp>
        <p:nvSpPr>
          <p:cNvPr id="13" name="Email card"/>
          <p:cNvSpPr/>
          <p:nvPr/>
        </p:nvSpPr>
        <p:spPr>
          <a:xfrm>
            <a:off x="6126480" y="1234440"/>
            <a:ext cx="2560320" cy="1600200"/>
          </a:xfrm>
          <a:prstGeom prst="roundRect">
            <a:avLst>
              <a:gd name="adj" fmla="val 6857"/>
            </a:avLst>
          </a:prstGeom>
          <a:solidFill>
            <a:schemeClr val="tx2"/>
          </a:solidFill>
          <a:ln w="12700">
            <a:solidFill>
              <a:schemeClr val="tx2"/>
            </a:solidFill>
            <a:prstDash val="solid"/>
          </a:ln>
        </p:spPr>
      </p:sp>
      <p:sp>
        <p:nvSpPr>
          <p:cNvPr id="14" name="Email circle"/>
          <p:cNvSpPr/>
          <p:nvPr/>
        </p:nvSpPr>
        <p:spPr>
          <a:xfrm>
            <a:off x="6355080" y="1463040"/>
            <a:ext cx="548640" cy="548640"/>
          </a:xfrm>
          <a:prstGeom prst="ellipse">
            <a:avLst/>
          </a:prstGeom>
          <a:solidFill>
            <a:schemeClr val="accent3"/>
          </a:solidFill>
          <a:ln w="12700">
            <a:solidFill>
              <a:schemeClr val="accent3"/>
            </a:solidFill>
            <a:prstDash val="solid"/>
          </a:ln>
        </p:spPr>
      </p:sp>
      <p:pic>
        <p:nvPicPr>
          <p:cNvPr id="15" name="Email icon" descr="preencoded.png">    </p:cNvPr>
          <p:cNvPicPr>
            <a:picLocks noChangeAspect="1"/>
          </p:cNvPicPr>
          <p:nvPr/>
        </p:nvPicPr>
        <p:blipFill>
          <a:blip r:embed="rId3"/>
          <a:stretch>
            <a:fillRect/>
          </a:stretch>
        </p:blipFill>
        <p:spPr>
          <a:xfrm>
            <a:off x="6492240" y="1600200"/>
            <a:ext cx="274320" cy="274320"/>
          </a:xfrm>
          <a:prstGeom prst="rect">
            <a:avLst/>
          </a:prstGeom>
        </p:spPr>
      </p:pic>
      <p:sp>
        <p:nvSpPr>
          <p:cNvPr id="16" name="Text 11"/>
          <p:cNvSpPr txBox="1"/>
          <p:nvPr/>
        </p:nvSpPr>
        <p:spPr>
          <a:xfrm>
            <a:off x="7040880" y="1463040"/>
            <a:ext cx="1463040" cy="548640"/>
          </a:xfrm>
          <a:prstGeom prst="rect">
            <a:avLst/>
          </a:prstGeom>
          <a:noFill/>
          <a:ln/>
        </p:spPr>
        <p:txBody>
          <a:bodyPr wrap="square" lIns="0" tIns="0" rIns="0" bIns="0" rtlCol="0" anchor="ctr"/>
          <a:lstStyle/>
          <a:p>
            <a:pPr indent="0" marL="0">
              <a:buNone/>
            </a:pPr>
            <a:r>
              <a:rPr lang="en-US" sz="2000" b="1" dirty="0">
                <a:solidFill>
                  <a:schemeClr val="bg1"/>
                </a:solidFill>
              </a:rPr>
              <a:t>Email</a:t>
            </a:r>
            <a:endParaRPr lang="en-US" sz="2000" dirty="0"/>
          </a:p>
        </p:txBody>
      </p:sp>
      <p:sp>
        <p:nvSpPr>
          <p:cNvPr id="17" name="Text 12"/>
          <p:cNvSpPr txBox="1"/>
          <p:nvPr/>
        </p:nvSpPr>
        <p:spPr>
          <a:xfrm>
            <a:off x="6355080" y="2103120"/>
            <a:ext cx="2148840" cy="640080"/>
          </a:xfrm>
          <a:prstGeom prst="rect">
            <a:avLst/>
          </a:prstGeom>
          <a:noFill/>
          <a:ln/>
        </p:spPr>
        <p:txBody>
          <a:bodyPr wrap="square" lIns="0" tIns="0" rIns="0" bIns="0" rtlCol="0" anchor="t"/>
          <a:lstStyle/>
          <a:p>
            <a:pPr indent="0" marL="0">
              <a:buNone/>
            </a:pPr>
            <a:r>
              <a:rPr lang="en-US" sz="1300" dirty="0">
                <a:solidFill>
                  <a:schemeClr val="bg2"/>
                </a:solidFill>
              </a:rPr>
              <a:t>Every campaign sent, opened and clicked</a:t>
            </a:r>
            <a:endParaRPr lang="en-US" sz="1300" dirty="0"/>
          </a:p>
        </p:txBody>
      </p:sp>
      <p:sp>
        <p:nvSpPr>
          <p:cNvPr id="18" name="Text 13"/>
          <p:cNvSpPr txBox="1"/>
          <p:nvPr/>
        </p:nvSpPr>
        <p:spPr>
          <a:xfrm>
            <a:off x="457200" y="3063240"/>
            <a:ext cx="8229600" cy="365760"/>
          </a:xfrm>
          <a:prstGeom prst="rect">
            <a:avLst/>
          </a:prstGeom>
          <a:noFill/>
          <a:ln/>
        </p:spPr>
        <p:txBody>
          <a:bodyPr wrap="square" lIns="0" tIns="0" rIns="0" bIns="0" rtlCol="0" anchor="ctr"/>
          <a:lstStyle/>
          <a:p>
            <a:pPr indent="0" marL="0">
              <a:buNone/>
            </a:pPr>
            <a:r>
              <a:rPr lang="en-US" sz="1600" b="1" dirty="0">
                <a:solidFill>
                  <a:schemeClr val="accent2"/>
                </a:solidFill>
              </a:rPr>
              <a:t>Everyday questions need all three at once</a:t>
            </a:r>
            <a:endParaRPr lang="en-US" sz="1600" dirty="0"/>
          </a:p>
        </p:txBody>
      </p:sp>
      <p:sp>
        <p:nvSpPr>
          <p:cNvPr id="19" name="Text 14"/>
          <p:cNvSpPr txBox="1"/>
          <p:nvPr/>
        </p:nvSpPr>
        <p:spPr>
          <a:xfrm>
            <a:off x="457200" y="3520440"/>
            <a:ext cx="2560320" cy="822960"/>
          </a:xfrm>
          <a:prstGeom prst="rect">
            <a:avLst/>
          </a:prstGeom>
          <a:noFill/>
          <a:ln/>
        </p:spPr>
        <p:txBody>
          <a:bodyPr wrap="square" lIns="0" tIns="0" rIns="0" bIns="0" rtlCol="0" anchor="t"/>
          <a:lstStyle/>
          <a:p>
            <a:pPr indent="0" marL="0">
              <a:buNone/>
            </a:pPr>
            <a:r>
              <a:rPr lang="en-US" sz="1500" i="1" dirty="0">
                <a:solidFill>
                  <a:schemeClr val="bg1"/>
                </a:solidFill>
              </a:rPr>
              <a:t>“Who should we email about this show?”</a:t>
            </a:r>
            <a:endParaRPr lang="en-US" sz="1500" dirty="0"/>
          </a:p>
        </p:txBody>
      </p:sp>
      <p:sp>
        <p:nvSpPr>
          <p:cNvPr id="20" name="Text 15"/>
          <p:cNvSpPr txBox="1"/>
          <p:nvPr/>
        </p:nvSpPr>
        <p:spPr>
          <a:xfrm>
            <a:off x="3291840" y="3520440"/>
            <a:ext cx="2560320" cy="822960"/>
          </a:xfrm>
          <a:prstGeom prst="rect">
            <a:avLst/>
          </a:prstGeom>
          <a:noFill/>
          <a:ln/>
        </p:spPr>
        <p:txBody>
          <a:bodyPr wrap="square" lIns="0" tIns="0" rIns="0" bIns="0" rtlCol="0" anchor="t"/>
          <a:lstStyle/>
          <a:p>
            <a:pPr indent="0" marL="0">
              <a:buNone/>
            </a:pPr>
            <a:r>
              <a:rPr lang="en-US" sz="1500" i="1" dirty="0">
                <a:solidFill>
                  <a:schemeClr val="bg1"/>
                </a:solidFill>
              </a:rPr>
              <a:t>“Which campaign actually sold tickets?”</a:t>
            </a:r>
            <a:endParaRPr lang="en-US" sz="1500" dirty="0"/>
          </a:p>
        </p:txBody>
      </p:sp>
      <p:sp>
        <p:nvSpPr>
          <p:cNvPr id="21" name="Text 16"/>
          <p:cNvSpPr txBox="1"/>
          <p:nvPr/>
        </p:nvSpPr>
        <p:spPr>
          <a:xfrm>
            <a:off x="6126480" y="3520440"/>
            <a:ext cx="2560320" cy="822960"/>
          </a:xfrm>
          <a:prstGeom prst="rect">
            <a:avLst/>
          </a:prstGeom>
          <a:noFill/>
          <a:ln/>
        </p:spPr>
        <p:txBody>
          <a:bodyPr wrap="square" lIns="0" tIns="0" rIns="0" bIns="0" rtlCol="0" anchor="t"/>
          <a:lstStyle/>
          <a:p>
            <a:pPr indent="0" marL="0">
              <a:buNone/>
            </a:pPr>
            <a:r>
              <a:rPr lang="en-US" sz="1500" i="1" dirty="0">
                <a:solidFill>
                  <a:schemeClr val="bg1"/>
                </a:solidFill>
              </a:rPr>
              <a:t>“Which loyal festival-goers haven't bought next year yet?”</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So I put the whole journey in one graph</a:t>
            </a:r>
            <a:endParaRPr lang="en-US" sz="3000" dirty="0"/>
          </a:p>
        </p:txBody>
      </p:sp>
      <p:sp>
        <p:nvSpPr>
          <p:cNvPr id="3" name="Text 1"/>
          <p:cNvSpPr txBox="1"/>
          <p:nvPr/>
        </p:nvSpPr>
        <p:spPr>
          <a:xfrm>
            <a:off x="457200" y="1188720"/>
            <a:ext cx="1325880" cy="548640"/>
          </a:xfrm>
          <a:prstGeom prst="rect">
            <a:avLst/>
          </a:prstGeom>
          <a:noFill/>
          <a:ln/>
        </p:spPr>
        <p:txBody>
          <a:bodyPr wrap="square" lIns="0" tIns="0" rIns="0" bIns="0" rtlCol="0" anchor="ctr"/>
          <a:lstStyle/>
          <a:p>
            <a:pPr indent="0" marL="0">
              <a:buNone/>
            </a:pPr>
            <a:r>
              <a:rPr lang="en-US" sz="2600" b="1" dirty="0">
                <a:solidFill>
                  <a:schemeClr val="accent1"/>
                </a:solidFill>
              </a:rPr>
              <a:t>3,000</a:t>
            </a:r>
            <a:endParaRPr lang="en-US" sz="2600" dirty="0"/>
          </a:p>
        </p:txBody>
      </p:sp>
      <p:sp>
        <p:nvSpPr>
          <p:cNvPr id="4" name="Text 2"/>
          <p:cNvSpPr txBox="1"/>
          <p:nvPr/>
        </p:nvSpPr>
        <p:spPr>
          <a:xfrm>
            <a:off x="1828800" y="1188720"/>
            <a:ext cx="1828800" cy="548640"/>
          </a:xfrm>
          <a:prstGeom prst="rect">
            <a:avLst/>
          </a:prstGeom>
          <a:noFill/>
          <a:ln/>
        </p:spPr>
        <p:txBody>
          <a:bodyPr wrap="square" lIns="0" tIns="0" rIns="0" bIns="0" rtlCol="0" anchor="ctr"/>
          <a:lstStyle/>
          <a:p>
            <a:pPr indent="0" marL="0">
              <a:buNone/>
            </a:pPr>
            <a:r>
              <a:rPr lang="en-US" sz="1400" dirty="0">
                <a:solidFill>
                  <a:schemeClr val="bg2"/>
                </a:solidFill>
              </a:rPr>
              <a:t>fans</a:t>
            </a:r>
            <a:endParaRPr lang="en-US" sz="1400" dirty="0"/>
          </a:p>
        </p:txBody>
      </p:sp>
      <p:sp>
        <p:nvSpPr>
          <p:cNvPr id="5" name="Text 3"/>
          <p:cNvSpPr txBox="1"/>
          <p:nvPr/>
        </p:nvSpPr>
        <p:spPr>
          <a:xfrm>
            <a:off x="457200" y="1847088"/>
            <a:ext cx="1325880" cy="548640"/>
          </a:xfrm>
          <a:prstGeom prst="rect">
            <a:avLst/>
          </a:prstGeom>
          <a:noFill/>
          <a:ln/>
        </p:spPr>
        <p:txBody>
          <a:bodyPr wrap="square" lIns="0" tIns="0" rIns="0" bIns="0" rtlCol="0" anchor="ctr"/>
          <a:lstStyle/>
          <a:p>
            <a:pPr indent="0" marL="0">
              <a:buNone/>
            </a:pPr>
            <a:r>
              <a:rPr lang="en-US" sz="2600" b="1" dirty="0">
                <a:solidFill>
                  <a:schemeClr val="bg1"/>
                </a:solidFill>
              </a:rPr>
              <a:t>~8,400</a:t>
            </a:r>
            <a:endParaRPr lang="en-US" sz="2600" dirty="0"/>
          </a:p>
        </p:txBody>
      </p:sp>
      <p:sp>
        <p:nvSpPr>
          <p:cNvPr id="6" name="Text 4"/>
          <p:cNvSpPr txBox="1"/>
          <p:nvPr/>
        </p:nvSpPr>
        <p:spPr>
          <a:xfrm>
            <a:off x="1828800" y="1847088"/>
            <a:ext cx="1828800" cy="548640"/>
          </a:xfrm>
          <a:prstGeom prst="rect">
            <a:avLst/>
          </a:prstGeom>
          <a:noFill/>
          <a:ln/>
        </p:spPr>
        <p:txBody>
          <a:bodyPr wrap="square" lIns="0" tIns="0" rIns="0" bIns="0" rtlCol="0" anchor="ctr"/>
          <a:lstStyle/>
          <a:p>
            <a:pPr indent="0" marL="0">
              <a:buNone/>
            </a:pPr>
            <a:r>
              <a:rPr lang="en-US" sz="1400" dirty="0">
                <a:solidFill>
                  <a:schemeClr val="bg2"/>
                </a:solidFill>
              </a:rPr>
              <a:t>ticket orders</a:t>
            </a:r>
            <a:endParaRPr lang="en-US" sz="1400" dirty="0"/>
          </a:p>
        </p:txBody>
      </p:sp>
      <p:sp>
        <p:nvSpPr>
          <p:cNvPr id="7" name="Text 5"/>
          <p:cNvSpPr txBox="1"/>
          <p:nvPr/>
        </p:nvSpPr>
        <p:spPr>
          <a:xfrm>
            <a:off x="457200" y="2505456"/>
            <a:ext cx="1325880" cy="548640"/>
          </a:xfrm>
          <a:prstGeom prst="rect">
            <a:avLst/>
          </a:prstGeom>
          <a:noFill/>
          <a:ln/>
        </p:spPr>
        <p:txBody>
          <a:bodyPr wrap="square" lIns="0" tIns="0" rIns="0" bIns="0" rtlCol="0" anchor="ctr"/>
          <a:lstStyle/>
          <a:p>
            <a:pPr indent="0" marL="0">
              <a:buNone/>
            </a:pPr>
            <a:r>
              <a:rPr lang="en-US" sz="2600" b="1" dirty="0">
                <a:solidFill>
                  <a:schemeClr val="bg1"/>
                </a:solidFill>
              </a:rPr>
              <a:t>94</a:t>
            </a:r>
            <a:endParaRPr lang="en-US" sz="2600" dirty="0"/>
          </a:p>
        </p:txBody>
      </p:sp>
      <p:sp>
        <p:nvSpPr>
          <p:cNvPr id="8" name="Text 6"/>
          <p:cNvSpPr txBox="1"/>
          <p:nvPr/>
        </p:nvSpPr>
        <p:spPr>
          <a:xfrm>
            <a:off x="1828800" y="2505456"/>
            <a:ext cx="1828800" cy="548640"/>
          </a:xfrm>
          <a:prstGeom prst="rect">
            <a:avLst/>
          </a:prstGeom>
          <a:noFill/>
          <a:ln/>
        </p:spPr>
        <p:txBody>
          <a:bodyPr wrap="square" lIns="0" tIns="0" rIns="0" bIns="0" rtlCol="0" anchor="ctr"/>
          <a:lstStyle/>
          <a:p>
            <a:pPr indent="0" marL="0">
              <a:buNone/>
            </a:pPr>
            <a:r>
              <a:rPr lang="en-US" sz="1400" dirty="0">
                <a:solidFill>
                  <a:schemeClr val="bg2"/>
                </a:solidFill>
              </a:rPr>
              <a:t>events, incl. festival editions</a:t>
            </a:r>
            <a:endParaRPr lang="en-US" sz="1400" dirty="0"/>
          </a:p>
        </p:txBody>
      </p:sp>
      <p:sp>
        <p:nvSpPr>
          <p:cNvPr id="9" name="Text 7"/>
          <p:cNvSpPr txBox="1"/>
          <p:nvPr/>
        </p:nvSpPr>
        <p:spPr>
          <a:xfrm>
            <a:off x="457200" y="3163824"/>
            <a:ext cx="1325880" cy="548640"/>
          </a:xfrm>
          <a:prstGeom prst="rect">
            <a:avLst/>
          </a:prstGeom>
          <a:noFill/>
          <a:ln/>
        </p:spPr>
        <p:txBody>
          <a:bodyPr wrap="square" lIns="0" tIns="0" rIns="0" bIns="0" rtlCol="0" anchor="ctr"/>
          <a:lstStyle/>
          <a:p>
            <a:pPr indent="0" marL="0">
              <a:buNone/>
            </a:pPr>
            <a:r>
              <a:rPr lang="en-US" sz="2600" b="1" dirty="0">
                <a:solidFill>
                  <a:schemeClr val="bg1"/>
                </a:solidFill>
              </a:rPr>
              <a:t>40</a:t>
            </a:r>
            <a:endParaRPr lang="en-US" sz="2600" dirty="0"/>
          </a:p>
        </p:txBody>
      </p:sp>
      <p:sp>
        <p:nvSpPr>
          <p:cNvPr id="10" name="Text 8"/>
          <p:cNvSpPr txBox="1"/>
          <p:nvPr/>
        </p:nvSpPr>
        <p:spPr>
          <a:xfrm>
            <a:off x="1828800" y="3163824"/>
            <a:ext cx="1828800" cy="548640"/>
          </a:xfrm>
          <a:prstGeom prst="rect">
            <a:avLst/>
          </a:prstGeom>
          <a:noFill/>
          <a:ln/>
        </p:spPr>
        <p:txBody>
          <a:bodyPr wrap="square" lIns="0" tIns="0" rIns="0" bIns="0" rtlCol="0" anchor="ctr"/>
          <a:lstStyle/>
          <a:p>
            <a:pPr indent="0" marL="0">
              <a:buNone/>
            </a:pPr>
            <a:r>
              <a:rPr lang="en-US" sz="1400" dirty="0">
                <a:solidFill>
                  <a:schemeClr val="bg2"/>
                </a:solidFill>
              </a:rPr>
              <a:t>artists</a:t>
            </a:r>
            <a:endParaRPr lang="en-US" sz="1400" dirty="0"/>
          </a:p>
        </p:txBody>
      </p:sp>
      <p:sp>
        <p:nvSpPr>
          <p:cNvPr id="11" name="Text 9"/>
          <p:cNvSpPr txBox="1"/>
          <p:nvPr/>
        </p:nvSpPr>
        <p:spPr>
          <a:xfrm>
            <a:off x="457200" y="3822192"/>
            <a:ext cx="1325880" cy="548640"/>
          </a:xfrm>
          <a:prstGeom prst="rect">
            <a:avLst/>
          </a:prstGeom>
          <a:noFill/>
          <a:ln/>
        </p:spPr>
        <p:txBody>
          <a:bodyPr wrap="square" lIns="0" tIns="0" rIns="0" bIns="0" rtlCol="0" anchor="ctr"/>
          <a:lstStyle/>
          <a:p>
            <a:pPr indent="0" marL="0">
              <a:buNone/>
            </a:pPr>
            <a:r>
              <a:rPr lang="en-US" sz="2600" b="1" dirty="0">
                <a:solidFill>
                  <a:schemeClr val="bg1"/>
                </a:solidFill>
              </a:rPr>
              <a:t>28</a:t>
            </a:r>
            <a:endParaRPr lang="en-US" sz="2600" dirty="0"/>
          </a:p>
        </p:txBody>
      </p:sp>
      <p:sp>
        <p:nvSpPr>
          <p:cNvPr id="12" name="Text 10"/>
          <p:cNvSpPr txBox="1"/>
          <p:nvPr/>
        </p:nvSpPr>
        <p:spPr>
          <a:xfrm>
            <a:off x="1828800" y="3822192"/>
            <a:ext cx="1828800" cy="548640"/>
          </a:xfrm>
          <a:prstGeom prst="rect">
            <a:avLst/>
          </a:prstGeom>
          <a:noFill/>
          <a:ln/>
        </p:spPr>
        <p:txBody>
          <a:bodyPr wrap="square" lIns="0" tIns="0" rIns="0" bIns="0" rtlCol="0" anchor="ctr"/>
          <a:lstStyle/>
          <a:p>
            <a:pPr indent="0" marL="0">
              <a:buNone/>
            </a:pPr>
            <a:r>
              <a:rPr lang="en-US" sz="1400" dirty="0">
                <a:solidFill>
                  <a:schemeClr val="bg2"/>
                </a:solidFill>
              </a:rPr>
              <a:t>email campaigns</a:t>
            </a:r>
            <a:endParaRPr lang="en-US" sz="1400" dirty="0"/>
          </a:p>
        </p:txBody>
      </p:sp>
      <p:sp>
        <p:nvSpPr>
          <p:cNvPr id="13" name="edge Fan-Campaign"/>
          <p:cNvSpPr/>
          <p:nvPr/>
        </p:nvSpPr>
        <p:spPr>
          <a:xfrm>
            <a:off x="4914900" y="1577340"/>
            <a:ext cx="9144" cy="1371600"/>
          </a:xfrm>
          <a:prstGeom prst="line">
            <a:avLst/>
          </a:prstGeom>
          <a:noFill/>
          <a:ln w="25400">
            <a:solidFill>
              <a:schemeClr val="accent5"/>
            </a:solidFill>
            <a:prstDash val="solid"/>
          </a:ln>
        </p:spPr>
      </p:sp>
      <p:sp>
        <p:nvSpPr>
          <p:cNvPr id="14" name="edge Campaign-Event"/>
          <p:cNvSpPr/>
          <p:nvPr/>
        </p:nvSpPr>
        <p:spPr>
          <a:xfrm>
            <a:off x="4914900" y="1577340"/>
            <a:ext cx="3108960" cy="1371600"/>
          </a:xfrm>
          <a:prstGeom prst="line">
            <a:avLst/>
          </a:prstGeom>
          <a:noFill/>
          <a:ln w="25400">
            <a:solidFill>
              <a:schemeClr val="accent5"/>
            </a:solidFill>
            <a:prstDash val="solid"/>
          </a:ln>
        </p:spPr>
      </p:sp>
      <p:sp>
        <p:nvSpPr>
          <p:cNvPr id="15" name="edge Fan-Order"/>
          <p:cNvSpPr/>
          <p:nvPr/>
        </p:nvSpPr>
        <p:spPr>
          <a:xfrm>
            <a:off x="4914900" y="2948940"/>
            <a:ext cx="1508760" cy="9144"/>
          </a:xfrm>
          <a:prstGeom prst="line">
            <a:avLst/>
          </a:prstGeom>
          <a:noFill/>
          <a:ln w="25400">
            <a:solidFill>
              <a:schemeClr val="accent5"/>
            </a:solidFill>
            <a:prstDash val="solid"/>
          </a:ln>
        </p:spPr>
      </p:sp>
      <p:sp>
        <p:nvSpPr>
          <p:cNvPr id="16" name="edge Order-Event"/>
          <p:cNvSpPr/>
          <p:nvPr/>
        </p:nvSpPr>
        <p:spPr>
          <a:xfrm>
            <a:off x="6423660" y="2948940"/>
            <a:ext cx="1600200" cy="9144"/>
          </a:xfrm>
          <a:prstGeom prst="line">
            <a:avLst/>
          </a:prstGeom>
          <a:noFill/>
          <a:ln w="25400">
            <a:solidFill>
              <a:schemeClr val="accent5"/>
            </a:solidFill>
            <a:prstDash val="solid"/>
          </a:ln>
        </p:spPr>
      </p:sp>
      <p:sp>
        <p:nvSpPr>
          <p:cNvPr id="17" name="edge Event-Festival"/>
          <p:cNvSpPr/>
          <p:nvPr/>
        </p:nvSpPr>
        <p:spPr>
          <a:xfrm>
            <a:off x="8023860" y="1577340"/>
            <a:ext cx="9144" cy="1371600"/>
          </a:xfrm>
          <a:prstGeom prst="line">
            <a:avLst/>
          </a:prstGeom>
          <a:noFill/>
          <a:ln w="25400">
            <a:solidFill>
              <a:schemeClr val="accent5"/>
            </a:solidFill>
            <a:prstDash val="solid"/>
          </a:ln>
        </p:spPr>
      </p:sp>
      <p:sp>
        <p:nvSpPr>
          <p:cNvPr id="18" name="edge Artist-Event"/>
          <p:cNvSpPr/>
          <p:nvPr/>
        </p:nvSpPr>
        <p:spPr>
          <a:xfrm flipV="1">
            <a:off x="7200900" y="2948940"/>
            <a:ext cx="822960" cy="1234440"/>
          </a:xfrm>
          <a:prstGeom prst="line">
            <a:avLst/>
          </a:prstGeom>
          <a:noFill/>
          <a:ln w="25400">
            <a:solidFill>
              <a:schemeClr val="accent5"/>
            </a:solidFill>
            <a:prstDash val="solid"/>
          </a:ln>
        </p:spPr>
      </p:sp>
      <p:sp>
        <p:nvSpPr>
          <p:cNvPr id="19" name="edge Artist-Genre"/>
          <p:cNvSpPr/>
          <p:nvPr/>
        </p:nvSpPr>
        <p:spPr>
          <a:xfrm>
            <a:off x="5692140" y="4183380"/>
            <a:ext cx="1508760" cy="9144"/>
          </a:xfrm>
          <a:prstGeom prst="line">
            <a:avLst/>
          </a:prstGeom>
          <a:noFill/>
          <a:ln w="25400">
            <a:solidFill>
              <a:schemeClr val="accent5"/>
            </a:solidFill>
            <a:prstDash val="solid"/>
          </a:ln>
        </p:spPr>
      </p:sp>
      <p:sp>
        <p:nvSpPr>
          <p:cNvPr id="20" name="edge Fan-Genre"/>
          <p:cNvSpPr/>
          <p:nvPr/>
        </p:nvSpPr>
        <p:spPr>
          <a:xfrm>
            <a:off x="4914900" y="2948940"/>
            <a:ext cx="777240" cy="1234440"/>
          </a:xfrm>
          <a:prstGeom prst="line">
            <a:avLst/>
          </a:prstGeom>
          <a:noFill/>
          <a:ln w="25400">
            <a:solidFill>
              <a:schemeClr val="accent5"/>
            </a:solidFill>
            <a:prstDash val="solid"/>
          </a:ln>
        </p:spPr>
      </p:sp>
      <p:sp>
        <p:nvSpPr>
          <p:cNvPr id="21" name="edge Fan-Artist"/>
          <p:cNvSpPr/>
          <p:nvPr/>
        </p:nvSpPr>
        <p:spPr>
          <a:xfrm>
            <a:off x="4914900" y="2948940"/>
            <a:ext cx="2286000" cy="1234440"/>
          </a:xfrm>
          <a:prstGeom prst="line">
            <a:avLst/>
          </a:prstGeom>
          <a:noFill/>
          <a:ln w="25400">
            <a:solidFill>
              <a:schemeClr val="accent5"/>
            </a:solidFill>
            <a:prstDash val="solid"/>
          </a:ln>
        </p:spPr>
      </p:sp>
      <p:sp>
        <p:nvSpPr>
          <p:cNvPr id="22" name="edge Fan-City"/>
          <p:cNvSpPr/>
          <p:nvPr/>
        </p:nvSpPr>
        <p:spPr>
          <a:xfrm flipV="1">
            <a:off x="4229100" y="2948940"/>
            <a:ext cx="685800" cy="1234440"/>
          </a:xfrm>
          <a:prstGeom prst="line">
            <a:avLst/>
          </a:prstGeom>
          <a:noFill/>
          <a:ln w="25400">
            <a:solidFill>
              <a:schemeClr val="accent5"/>
            </a:solidFill>
            <a:prstDash val="solid"/>
          </a:ln>
        </p:spPr>
      </p:sp>
      <p:sp>
        <p:nvSpPr>
          <p:cNvPr id="23" name="Campaign node"/>
          <p:cNvSpPr/>
          <p:nvPr/>
        </p:nvSpPr>
        <p:spPr>
          <a:xfrm>
            <a:off x="4480560" y="1143000"/>
            <a:ext cx="868680" cy="868680"/>
          </a:xfrm>
          <a:prstGeom prst="ellipse">
            <a:avLst/>
          </a:prstGeom>
          <a:solidFill>
            <a:schemeClr val="accent3"/>
          </a:solidFill>
          <a:ln w="12700">
            <a:solidFill>
              <a:schemeClr val="accent3"/>
            </a:solidFill>
            <a:prstDash val="solid"/>
          </a:ln>
        </p:spPr>
      </p:sp>
      <p:sp>
        <p:nvSpPr>
          <p:cNvPr id="24" name="Text 22"/>
          <p:cNvSpPr txBox="1"/>
          <p:nvPr/>
        </p:nvSpPr>
        <p:spPr>
          <a:xfrm>
            <a:off x="4389120" y="1143000"/>
            <a:ext cx="1051560" cy="868680"/>
          </a:xfrm>
          <a:prstGeom prst="rect">
            <a:avLst/>
          </a:prstGeom>
          <a:noFill/>
          <a:ln/>
        </p:spPr>
        <p:txBody>
          <a:bodyPr wrap="square" lIns="0" tIns="0" rIns="0" bIns="0" rtlCol="0" anchor="ctr"/>
          <a:lstStyle/>
          <a:p>
            <a:pPr algn="ctr" indent="0" marL="0">
              <a:buNone/>
            </a:pPr>
            <a:r>
              <a:rPr lang="en-US" sz="1100" b="1" dirty="0">
                <a:solidFill>
                  <a:schemeClr val="tx1"/>
                </a:solidFill>
              </a:rPr>
              <a:t>Campaign</a:t>
            </a:r>
            <a:endParaRPr lang="en-US" sz="1100" dirty="0"/>
          </a:p>
        </p:txBody>
      </p:sp>
      <p:sp>
        <p:nvSpPr>
          <p:cNvPr id="25" name="Fan node"/>
          <p:cNvSpPr/>
          <p:nvPr/>
        </p:nvSpPr>
        <p:spPr>
          <a:xfrm>
            <a:off x="4480560" y="2514600"/>
            <a:ext cx="868680" cy="868680"/>
          </a:xfrm>
          <a:prstGeom prst="ellipse">
            <a:avLst/>
          </a:prstGeom>
          <a:solidFill>
            <a:schemeClr val="accent1"/>
          </a:solidFill>
          <a:ln w="12700">
            <a:solidFill>
              <a:schemeClr val="accent1"/>
            </a:solidFill>
            <a:prstDash val="solid"/>
          </a:ln>
        </p:spPr>
      </p:sp>
      <p:sp>
        <p:nvSpPr>
          <p:cNvPr id="26" name="Text 24"/>
          <p:cNvSpPr txBox="1"/>
          <p:nvPr/>
        </p:nvSpPr>
        <p:spPr>
          <a:xfrm>
            <a:off x="4389120" y="2514600"/>
            <a:ext cx="1051560" cy="868680"/>
          </a:xfrm>
          <a:prstGeom prst="rect">
            <a:avLst/>
          </a:prstGeom>
          <a:noFill/>
          <a:ln/>
        </p:spPr>
        <p:txBody>
          <a:bodyPr wrap="square" lIns="0" tIns="0" rIns="0" bIns="0" rtlCol="0" anchor="ctr"/>
          <a:lstStyle/>
          <a:p>
            <a:pPr algn="ctr" indent="0" marL="0">
              <a:buNone/>
            </a:pPr>
            <a:r>
              <a:rPr lang="en-US" sz="1100" b="1" dirty="0">
                <a:solidFill>
                  <a:schemeClr val="tx1"/>
                </a:solidFill>
              </a:rPr>
              <a:t>Fan</a:t>
            </a:r>
            <a:endParaRPr lang="en-US" sz="1100" dirty="0"/>
          </a:p>
        </p:txBody>
      </p:sp>
      <p:sp>
        <p:nvSpPr>
          <p:cNvPr id="27" name="City node"/>
          <p:cNvSpPr/>
          <p:nvPr/>
        </p:nvSpPr>
        <p:spPr>
          <a:xfrm>
            <a:off x="3794760" y="3749040"/>
            <a:ext cx="868680" cy="868680"/>
          </a:xfrm>
          <a:prstGeom prst="ellipse">
            <a:avLst/>
          </a:prstGeom>
          <a:solidFill>
            <a:schemeClr val="accent4"/>
          </a:solidFill>
          <a:ln w="12700">
            <a:solidFill>
              <a:schemeClr val="accent4"/>
            </a:solidFill>
            <a:prstDash val="solid"/>
          </a:ln>
        </p:spPr>
      </p:sp>
      <p:sp>
        <p:nvSpPr>
          <p:cNvPr id="28" name="Text 26"/>
          <p:cNvSpPr txBox="1"/>
          <p:nvPr/>
        </p:nvSpPr>
        <p:spPr>
          <a:xfrm>
            <a:off x="3703320" y="3749040"/>
            <a:ext cx="1051560" cy="868680"/>
          </a:xfrm>
          <a:prstGeom prst="rect">
            <a:avLst/>
          </a:prstGeom>
          <a:noFill/>
          <a:ln/>
        </p:spPr>
        <p:txBody>
          <a:bodyPr wrap="square" lIns="0" tIns="0" rIns="0" bIns="0" rtlCol="0" anchor="ctr"/>
          <a:lstStyle/>
          <a:p>
            <a:pPr algn="ctr" indent="0" marL="0">
              <a:buNone/>
            </a:pPr>
            <a:r>
              <a:rPr lang="en-US" sz="1100" b="1" dirty="0">
                <a:solidFill>
                  <a:schemeClr val="tx1"/>
                </a:solidFill>
              </a:rPr>
              <a:t>City</a:t>
            </a:r>
            <a:endParaRPr lang="en-US" sz="1100" dirty="0"/>
          </a:p>
        </p:txBody>
      </p:sp>
      <p:sp>
        <p:nvSpPr>
          <p:cNvPr id="29" name="Order node"/>
          <p:cNvSpPr/>
          <p:nvPr/>
        </p:nvSpPr>
        <p:spPr>
          <a:xfrm>
            <a:off x="5989320" y="2514600"/>
            <a:ext cx="868680" cy="868680"/>
          </a:xfrm>
          <a:prstGeom prst="ellipse">
            <a:avLst/>
          </a:prstGeom>
          <a:solidFill>
            <a:schemeClr val="accent2"/>
          </a:solidFill>
          <a:ln w="12700">
            <a:solidFill>
              <a:schemeClr val="accent2"/>
            </a:solidFill>
            <a:prstDash val="solid"/>
          </a:ln>
        </p:spPr>
      </p:sp>
      <p:sp>
        <p:nvSpPr>
          <p:cNvPr id="30" name="Text 28"/>
          <p:cNvSpPr txBox="1"/>
          <p:nvPr/>
        </p:nvSpPr>
        <p:spPr>
          <a:xfrm>
            <a:off x="5897880" y="2514600"/>
            <a:ext cx="1051560" cy="868680"/>
          </a:xfrm>
          <a:prstGeom prst="rect">
            <a:avLst/>
          </a:prstGeom>
          <a:noFill/>
          <a:ln/>
        </p:spPr>
        <p:txBody>
          <a:bodyPr wrap="square" lIns="0" tIns="0" rIns="0" bIns="0" rtlCol="0" anchor="ctr"/>
          <a:lstStyle/>
          <a:p>
            <a:pPr algn="ctr" indent="0" marL="0">
              <a:buNone/>
            </a:pPr>
            <a:r>
              <a:rPr lang="en-US" sz="1100" b="1" dirty="0">
                <a:solidFill>
                  <a:schemeClr val="tx1"/>
                </a:solidFill>
              </a:rPr>
              <a:t>Order</a:t>
            </a:r>
            <a:endParaRPr lang="en-US" sz="1100" dirty="0"/>
          </a:p>
        </p:txBody>
      </p:sp>
      <p:sp>
        <p:nvSpPr>
          <p:cNvPr id="31" name="Event node"/>
          <p:cNvSpPr/>
          <p:nvPr/>
        </p:nvSpPr>
        <p:spPr>
          <a:xfrm>
            <a:off x="7589520" y="2514600"/>
            <a:ext cx="868680" cy="868680"/>
          </a:xfrm>
          <a:prstGeom prst="ellipse">
            <a:avLst/>
          </a:prstGeom>
          <a:solidFill>
            <a:schemeClr val="accent2"/>
          </a:solidFill>
          <a:ln w="12700">
            <a:solidFill>
              <a:schemeClr val="accent2"/>
            </a:solidFill>
            <a:prstDash val="solid"/>
          </a:ln>
        </p:spPr>
      </p:sp>
      <p:sp>
        <p:nvSpPr>
          <p:cNvPr id="32" name="Text 30"/>
          <p:cNvSpPr txBox="1"/>
          <p:nvPr/>
        </p:nvSpPr>
        <p:spPr>
          <a:xfrm>
            <a:off x="7498080" y="2514600"/>
            <a:ext cx="1051560" cy="868680"/>
          </a:xfrm>
          <a:prstGeom prst="rect">
            <a:avLst/>
          </a:prstGeom>
          <a:noFill/>
          <a:ln/>
        </p:spPr>
        <p:txBody>
          <a:bodyPr wrap="square" lIns="0" tIns="0" rIns="0" bIns="0" rtlCol="0" anchor="ctr"/>
          <a:lstStyle/>
          <a:p>
            <a:pPr algn="ctr" indent="0" marL="0">
              <a:buNone/>
            </a:pPr>
            <a:r>
              <a:rPr lang="en-US" sz="1100" b="1" dirty="0">
                <a:solidFill>
                  <a:schemeClr val="tx1"/>
                </a:solidFill>
              </a:rPr>
              <a:t>Event</a:t>
            </a:r>
            <a:endParaRPr lang="en-US" sz="1100" dirty="0"/>
          </a:p>
        </p:txBody>
      </p:sp>
      <p:sp>
        <p:nvSpPr>
          <p:cNvPr id="33" name="Festival node"/>
          <p:cNvSpPr/>
          <p:nvPr/>
        </p:nvSpPr>
        <p:spPr>
          <a:xfrm>
            <a:off x="7589520" y="1143000"/>
            <a:ext cx="868680" cy="868680"/>
          </a:xfrm>
          <a:prstGeom prst="ellipse">
            <a:avLst/>
          </a:prstGeom>
          <a:solidFill>
            <a:schemeClr val="accent4"/>
          </a:solidFill>
          <a:ln w="12700">
            <a:solidFill>
              <a:schemeClr val="accent4"/>
            </a:solidFill>
            <a:prstDash val="solid"/>
          </a:ln>
        </p:spPr>
      </p:sp>
      <p:sp>
        <p:nvSpPr>
          <p:cNvPr id="34" name="Text 32"/>
          <p:cNvSpPr txBox="1"/>
          <p:nvPr/>
        </p:nvSpPr>
        <p:spPr>
          <a:xfrm>
            <a:off x="7498080" y="1143000"/>
            <a:ext cx="1051560" cy="868680"/>
          </a:xfrm>
          <a:prstGeom prst="rect">
            <a:avLst/>
          </a:prstGeom>
          <a:noFill/>
          <a:ln/>
        </p:spPr>
        <p:txBody>
          <a:bodyPr wrap="square" lIns="0" tIns="0" rIns="0" bIns="0" rtlCol="0" anchor="ctr"/>
          <a:lstStyle/>
          <a:p>
            <a:pPr algn="ctr" indent="0" marL="0">
              <a:buNone/>
            </a:pPr>
            <a:r>
              <a:rPr lang="en-US" sz="1100" b="1" dirty="0">
                <a:solidFill>
                  <a:schemeClr val="tx1"/>
                </a:solidFill>
              </a:rPr>
              <a:t>Festival</a:t>
            </a:r>
            <a:endParaRPr lang="en-US" sz="1100" dirty="0"/>
          </a:p>
        </p:txBody>
      </p:sp>
      <p:sp>
        <p:nvSpPr>
          <p:cNvPr id="35" name="Artist node"/>
          <p:cNvSpPr/>
          <p:nvPr/>
        </p:nvSpPr>
        <p:spPr>
          <a:xfrm>
            <a:off x="6766560" y="3749040"/>
            <a:ext cx="868680" cy="868680"/>
          </a:xfrm>
          <a:prstGeom prst="ellipse">
            <a:avLst/>
          </a:prstGeom>
          <a:solidFill>
            <a:schemeClr val="accent3"/>
          </a:solidFill>
          <a:ln w="12700">
            <a:solidFill>
              <a:schemeClr val="accent3"/>
            </a:solidFill>
            <a:prstDash val="solid"/>
          </a:ln>
        </p:spPr>
      </p:sp>
      <p:sp>
        <p:nvSpPr>
          <p:cNvPr id="36" name="Text 34"/>
          <p:cNvSpPr txBox="1"/>
          <p:nvPr/>
        </p:nvSpPr>
        <p:spPr>
          <a:xfrm>
            <a:off x="6675120" y="3749040"/>
            <a:ext cx="1051560" cy="868680"/>
          </a:xfrm>
          <a:prstGeom prst="rect">
            <a:avLst/>
          </a:prstGeom>
          <a:noFill/>
          <a:ln/>
        </p:spPr>
        <p:txBody>
          <a:bodyPr wrap="square" lIns="0" tIns="0" rIns="0" bIns="0" rtlCol="0" anchor="ctr"/>
          <a:lstStyle/>
          <a:p>
            <a:pPr algn="ctr" indent="0" marL="0">
              <a:buNone/>
            </a:pPr>
            <a:r>
              <a:rPr lang="en-US" sz="1100" b="1" dirty="0">
                <a:solidFill>
                  <a:schemeClr val="tx1"/>
                </a:solidFill>
              </a:rPr>
              <a:t>Artist</a:t>
            </a:r>
            <a:endParaRPr lang="en-US" sz="1100" dirty="0"/>
          </a:p>
        </p:txBody>
      </p:sp>
      <p:sp>
        <p:nvSpPr>
          <p:cNvPr id="37" name="Genre node"/>
          <p:cNvSpPr/>
          <p:nvPr/>
        </p:nvSpPr>
        <p:spPr>
          <a:xfrm>
            <a:off x="5257800" y="3749040"/>
            <a:ext cx="868680" cy="868680"/>
          </a:xfrm>
          <a:prstGeom prst="ellipse">
            <a:avLst/>
          </a:prstGeom>
          <a:solidFill>
            <a:schemeClr val="accent4"/>
          </a:solidFill>
          <a:ln w="12700">
            <a:solidFill>
              <a:schemeClr val="accent4"/>
            </a:solidFill>
            <a:prstDash val="solid"/>
          </a:ln>
        </p:spPr>
      </p:sp>
      <p:sp>
        <p:nvSpPr>
          <p:cNvPr id="38" name="Text 36"/>
          <p:cNvSpPr txBox="1"/>
          <p:nvPr/>
        </p:nvSpPr>
        <p:spPr>
          <a:xfrm>
            <a:off x="5166360" y="3749040"/>
            <a:ext cx="1051560" cy="868680"/>
          </a:xfrm>
          <a:prstGeom prst="rect">
            <a:avLst/>
          </a:prstGeom>
          <a:noFill/>
          <a:ln/>
        </p:spPr>
        <p:txBody>
          <a:bodyPr wrap="square" lIns="0" tIns="0" rIns="0" bIns="0" rtlCol="0" anchor="ctr"/>
          <a:lstStyle/>
          <a:p>
            <a:pPr algn="ctr" indent="0" marL="0">
              <a:buNone/>
            </a:pPr>
            <a:r>
              <a:rPr lang="en-US" sz="1100" b="1" dirty="0">
                <a:solidFill>
                  <a:schemeClr val="tx1"/>
                </a:solidFill>
              </a:rPr>
              <a:t>Genre</a:t>
            </a:r>
            <a:endParaRPr lang="en-US" sz="1100" dirty="0"/>
          </a:p>
        </p:txBody>
      </p:sp>
      <p:sp>
        <p:nvSpPr>
          <p:cNvPr id="39" name="Text 37"/>
          <p:cNvSpPr txBox="1"/>
          <p:nvPr/>
        </p:nvSpPr>
        <p:spPr>
          <a:xfrm>
            <a:off x="3657600" y="2103120"/>
            <a:ext cx="1188720" cy="228600"/>
          </a:xfrm>
          <a:prstGeom prst="rect">
            <a:avLst/>
          </a:prstGeom>
          <a:noFill/>
          <a:ln/>
        </p:spPr>
        <p:txBody>
          <a:bodyPr wrap="square" lIns="0" tIns="0" rIns="0" bIns="0" rtlCol="0" anchor="ctr"/>
          <a:lstStyle/>
          <a:p>
            <a:pPr algn="r" indent="0" marL="0">
              <a:buNone/>
            </a:pPr>
            <a:r>
              <a:rPr lang="en-US" sz="1000" dirty="0">
                <a:solidFill>
                  <a:schemeClr val="bg2"/>
                </a:solidFill>
              </a:rPr>
              <a:t>OPENED · CLICKED</a:t>
            </a:r>
            <a:endParaRPr lang="en-US" sz="1000" dirty="0"/>
          </a:p>
        </p:txBody>
      </p:sp>
      <p:sp>
        <p:nvSpPr>
          <p:cNvPr id="40" name="Text 38"/>
          <p:cNvSpPr txBox="1"/>
          <p:nvPr/>
        </p:nvSpPr>
        <p:spPr>
          <a:xfrm>
            <a:off x="5349240" y="2990088"/>
            <a:ext cx="640080" cy="228600"/>
          </a:xfrm>
          <a:prstGeom prst="rect">
            <a:avLst/>
          </a:prstGeom>
          <a:noFill/>
          <a:ln/>
        </p:spPr>
        <p:txBody>
          <a:bodyPr wrap="square" lIns="0" tIns="0" rIns="0" bIns="0" rtlCol="0" anchor="ctr"/>
          <a:lstStyle/>
          <a:p>
            <a:pPr algn="ctr" indent="0" marL="0">
              <a:buNone/>
            </a:pPr>
            <a:r>
              <a:rPr lang="en-US" sz="1000" dirty="0">
                <a:solidFill>
                  <a:schemeClr val="bg2"/>
                </a:solidFill>
              </a:rPr>
              <a:t>PLACED</a:t>
            </a:r>
            <a:endParaRPr lang="en-US" sz="1000" dirty="0"/>
          </a:p>
        </p:txBody>
      </p:sp>
      <p:sp>
        <p:nvSpPr>
          <p:cNvPr id="41" name="Text 39"/>
          <p:cNvSpPr txBox="1"/>
          <p:nvPr/>
        </p:nvSpPr>
        <p:spPr>
          <a:xfrm>
            <a:off x="6858000" y="2990088"/>
            <a:ext cx="731520" cy="228600"/>
          </a:xfrm>
          <a:prstGeom prst="rect">
            <a:avLst/>
          </a:prstGeom>
          <a:noFill/>
          <a:ln/>
        </p:spPr>
        <p:txBody>
          <a:bodyPr wrap="square" lIns="0" tIns="0" rIns="0" bIns="0" rtlCol="0" anchor="ctr"/>
          <a:lstStyle/>
          <a:p>
            <a:pPr algn="ctr" indent="0" marL="0">
              <a:buNone/>
            </a:pPr>
            <a:r>
              <a:rPr lang="en-US" sz="1000" dirty="0">
                <a:solidFill>
                  <a:schemeClr val="bg2"/>
                </a:solidFill>
              </a:rPr>
              <a:t>FOR_EVENT</a:t>
            </a:r>
            <a:endParaRPr lang="en-US" sz="1000" dirty="0"/>
          </a:p>
        </p:txBody>
      </p:sp>
      <p:sp>
        <p:nvSpPr>
          <p:cNvPr id="42" name="Text 40"/>
          <p:cNvSpPr txBox="1"/>
          <p:nvPr/>
        </p:nvSpPr>
        <p:spPr>
          <a:xfrm>
            <a:off x="7086600" y="2103120"/>
            <a:ext cx="868680" cy="228600"/>
          </a:xfrm>
          <a:prstGeom prst="rect">
            <a:avLst/>
          </a:prstGeom>
          <a:noFill/>
          <a:ln/>
        </p:spPr>
        <p:txBody>
          <a:bodyPr wrap="square" lIns="0" tIns="0" rIns="0" bIns="0" rtlCol="0" anchor="ctr"/>
          <a:lstStyle/>
          <a:p>
            <a:pPr algn="r" indent="0" marL="0">
              <a:buNone/>
            </a:pPr>
            <a:r>
              <a:rPr lang="en-US" sz="1000" dirty="0">
                <a:solidFill>
                  <a:schemeClr val="bg2"/>
                </a:solidFill>
              </a:rPr>
              <a:t>EDITION_OF</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Built end to end through Aura MCP</a:t>
            </a:r>
            <a:endParaRPr lang="en-US" sz="3000" dirty="0"/>
          </a:p>
        </p:txBody>
      </p:sp>
      <p:sp>
        <p:nvSpPr>
          <p:cNvPr id="3" name="Generate card"/>
          <p:cNvSpPr/>
          <p:nvPr/>
        </p:nvSpPr>
        <p:spPr>
          <a:xfrm>
            <a:off x="457200" y="1280160"/>
            <a:ext cx="1874520" cy="2743200"/>
          </a:xfrm>
          <a:prstGeom prst="roundRect">
            <a:avLst>
              <a:gd name="adj" fmla="val 5854"/>
            </a:avLst>
          </a:prstGeom>
          <a:solidFill>
            <a:schemeClr val="tx2"/>
          </a:solidFill>
          <a:ln w="12700">
            <a:solidFill>
              <a:schemeClr val="tx2"/>
            </a:solidFill>
            <a:prstDash val="solid"/>
          </a:ln>
        </p:spPr>
      </p:sp>
      <p:sp>
        <p:nvSpPr>
          <p:cNvPr id="4" name="Generate circle"/>
          <p:cNvSpPr/>
          <p:nvPr/>
        </p:nvSpPr>
        <p:spPr>
          <a:xfrm>
            <a:off x="685800" y="1508760"/>
            <a:ext cx="640080" cy="640080"/>
          </a:xfrm>
          <a:prstGeom prst="ellipse">
            <a:avLst/>
          </a:prstGeom>
          <a:solidFill>
            <a:schemeClr val="accent1"/>
          </a:solidFill>
          <a:ln w="12700">
            <a:solidFill>
              <a:schemeClr val="accent1"/>
            </a:solidFill>
            <a:prstDash val="solid"/>
          </a:ln>
        </p:spPr>
      </p:sp>
      <p:pic>
        <p:nvPicPr>
          <p:cNvPr id="5" name="Generate icon" descr="preencoded.png">    </p:cNvPr>
          <p:cNvPicPr>
            <a:picLocks noChangeAspect="1"/>
          </p:cNvPicPr>
          <p:nvPr/>
        </p:nvPicPr>
        <p:blipFill>
          <a:blip r:embed="rId1"/>
          <a:stretch>
            <a:fillRect/>
          </a:stretch>
        </p:blipFill>
        <p:spPr>
          <a:xfrm>
            <a:off x="845820" y="1668780"/>
            <a:ext cx="320040" cy="320040"/>
          </a:xfrm>
          <a:prstGeom prst="rect">
            <a:avLst/>
          </a:prstGeom>
        </p:spPr>
      </p:pic>
      <p:sp>
        <p:nvSpPr>
          <p:cNvPr id="6" name="Text 3"/>
          <p:cNvSpPr txBox="1"/>
          <p:nvPr/>
        </p:nvSpPr>
        <p:spPr>
          <a:xfrm>
            <a:off x="1828800" y="1508760"/>
            <a:ext cx="320040" cy="640080"/>
          </a:xfrm>
          <a:prstGeom prst="rect">
            <a:avLst/>
          </a:prstGeom>
          <a:noFill/>
          <a:ln/>
        </p:spPr>
        <p:txBody>
          <a:bodyPr wrap="square" lIns="0" tIns="0" rIns="0" bIns="0" rtlCol="0" anchor="ctr"/>
          <a:lstStyle/>
          <a:p>
            <a:pPr algn="r" indent="0" marL="0">
              <a:buNone/>
            </a:pPr>
            <a:r>
              <a:rPr lang="en-US" sz="2400" b="1" dirty="0">
                <a:solidFill>
                  <a:schemeClr val="accent1"/>
                </a:solidFill>
              </a:rPr>
              <a:t>1</a:t>
            </a:r>
            <a:endParaRPr lang="en-US" sz="2400" dirty="0"/>
          </a:p>
        </p:txBody>
      </p:sp>
      <p:sp>
        <p:nvSpPr>
          <p:cNvPr id="7" name="Text 4"/>
          <p:cNvSpPr txBox="1"/>
          <p:nvPr/>
        </p:nvSpPr>
        <p:spPr>
          <a:xfrm>
            <a:off x="685800" y="2331720"/>
            <a:ext cx="1463040" cy="411480"/>
          </a:xfrm>
          <a:prstGeom prst="rect">
            <a:avLst/>
          </a:prstGeom>
          <a:noFill/>
          <a:ln/>
        </p:spPr>
        <p:txBody>
          <a:bodyPr wrap="square" lIns="0" tIns="0" rIns="0" bIns="0" rtlCol="0" anchor="ctr"/>
          <a:lstStyle/>
          <a:p>
            <a:pPr indent="0" marL="0">
              <a:buNone/>
            </a:pPr>
            <a:r>
              <a:rPr lang="en-US" sz="2000" b="1" dirty="0">
                <a:solidFill>
                  <a:schemeClr val="bg1"/>
                </a:solidFill>
              </a:rPr>
              <a:t>Generate</a:t>
            </a:r>
            <a:endParaRPr lang="en-US" sz="2000" dirty="0"/>
          </a:p>
        </p:txBody>
      </p:sp>
      <p:sp>
        <p:nvSpPr>
          <p:cNvPr id="8" name="Text 5"/>
          <p:cNvSpPr txBox="1"/>
          <p:nvPr/>
        </p:nvSpPr>
        <p:spPr>
          <a:xfrm>
            <a:off x="685800" y="2788920"/>
            <a:ext cx="1463040" cy="1463040"/>
          </a:xfrm>
          <a:prstGeom prst="rect">
            <a:avLst/>
          </a:prstGeom>
          <a:noFill/>
          <a:ln/>
        </p:spPr>
        <p:txBody>
          <a:bodyPr wrap="square" lIns="0" tIns="0" rIns="0" bIns="0" rtlCol="0" anchor="t"/>
          <a:lstStyle/>
          <a:p>
            <a:pPr indent="0" marL="0">
              <a:buNone/>
            </a:pPr>
            <a:r>
              <a:rPr lang="en-US" sz="1300" dirty="0">
                <a:solidFill>
                  <a:schemeClr val="bg2"/>
                </a:solidFill>
              </a:rPr>
              <a:t>generate.py writes 18 CSV files of synthetic fans, events and campaigns</a:t>
            </a:r>
            <a:endParaRPr lang="en-US" sz="1300" dirty="0"/>
          </a:p>
        </p:txBody>
      </p:sp>
      <p:sp>
        <p:nvSpPr>
          <p:cNvPr id="9" name="flow arrow 0"/>
          <p:cNvSpPr/>
          <p:nvPr/>
        </p:nvSpPr>
        <p:spPr>
          <a:xfrm rot="5400000">
            <a:off x="2308860" y="2766060"/>
            <a:ext cx="274320" cy="137160"/>
          </a:xfrm>
          <a:prstGeom prst="triangle">
            <a:avLst/>
          </a:prstGeom>
          <a:solidFill>
            <a:schemeClr val="accent5"/>
          </a:solidFill>
          <a:ln w="12700">
            <a:solidFill>
              <a:schemeClr val="accent5"/>
            </a:solidFill>
            <a:prstDash val="solid"/>
          </a:ln>
        </p:spPr>
      </p:sp>
      <p:sp>
        <p:nvSpPr>
          <p:cNvPr id="10" name="Load card"/>
          <p:cNvSpPr/>
          <p:nvPr/>
        </p:nvSpPr>
        <p:spPr>
          <a:xfrm>
            <a:off x="2560320" y="1280160"/>
            <a:ext cx="1874520" cy="2743200"/>
          </a:xfrm>
          <a:prstGeom prst="roundRect">
            <a:avLst>
              <a:gd name="adj" fmla="val 5854"/>
            </a:avLst>
          </a:prstGeom>
          <a:solidFill>
            <a:schemeClr val="tx2"/>
          </a:solidFill>
          <a:ln w="12700">
            <a:solidFill>
              <a:schemeClr val="tx2"/>
            </a:solidFill>
            <a:prstDash val="solid"/>
          </a:ln>
        </p:spPr>
      </p:sp>
      <p:sp>
        <p:nvSpPr>
          <p:cNvPr id="11" name="Load circle"/>
          <p:cNvSpPr/>
          <p:nvPr/>
        </p:nvSpPr>
        <p:spPr>
          <a:xfrm>
            <a:off x="2788920" y="1508760"/>
            <a:ext cx="640080" cy="640080"/>
          </a:xfrm>
          <a:prstGeom prst="ellipse">
            <a:avLst/>
          </a:prstGeom>
          <a:solidFill>
            <a:schemeClr val="accent2"/>
          </a:solidFill>
          <a:ln w="12700">
            <a:solidFill>
              <a:schemeClr val="accent2"/>
            </a:solidFill>
            <a:prstDash val="solid"/>
          </a:ln>
        </p:spPr>
      </p:sp>
      <p:pic>
        <p:nvPicPr>
          <p:cNvPr id="12" name="Load icon" descr="preencoded.png">    </p:cNvPr>
          <p:cNvPicPr>
            <a:picLocks noChangeAspect="1"/>
          </p:cNvPicPr>
          <p:nvPr/>
        </p:nvPicPr>
        <p:blipFill>
          <a:blip r:embed="rId2"/>
          <a:stretch>
            <a:fillRect/>
          </a:stretch>
        </p:blipFill>
        <p:spPr>
          <a:xfrm>
            <a:off x="2948940" y="1668780"/>
            <a:ext cx="320040" cy="320040"/>
          </a:xfrm>
          <a:prstGeom prst="rect">
            <a:avLst/>
          </a:prstGeom>
        </p:spPr>
      </p:pic>
      <p:sp>
        <p:nvSpPr>
          <p:cNvPr id="13" name="Text 9"/>
          <p:cNvSpPr txBox="1"/>
          <p:nvPr/>
        </p:nvSpPr>
        <p:spPr>
          <a:xfrm>
            <a:off x="3931920" y="1508760"/>
            <a:ext cx="320040" cy="640080"/>
          </a:xfrm>
          <a:prstGeom prst="rect">
            <a:avLst/>
          </a:prstGeom>
          <a:noFill/>
          <a:ln/>
        </p:spPr>
        <p:txBody>
          <a:bodyPr wrap="square" lIns="0" tIns="0" rIns="0" bIns="0" rtlCol="0" anchor="ctr"/>
          <a:lstStyle/>
          <a:p>
            <a:pPr algn="r" indent="0" marL="0">
              <a:buNone/>
            </a:pPr>
            <a:r>
              <a:rPr lang="en-US" sz="2400" b="1" dirty="0">
                <a:solidFill>
                  <a:schemeClr val="accent2"/>
                </a:solidFill>
              </a:rPr>
              <a:t>2</a:t>
            </a:r>
            <a:endParaRPr lang="en-US" sz="2400" dirty="0"/>
          </a:p>
        </p:txBody>
      </p:sp>
      <p:sp>
        <p:nvSpPr>
          <p:cNvPr id="14" name="Text 10"/>
          <p:cNvSpPr txBox="1"/>
          <p:nvPr/>
        </p:nvSpPr>
        <p:spPr>
          <a:xfrm>
            <a:off x="2788920" y="2331720"/>
            <a:ext cx="1463040" cy="411480"/>
          </a:xfrm>
          <a:prstGeom prst="rect">
            <a:avLst/>
          </a:prstGeom>
          <a:noFill/>
          <a:ln/>
        </p:spPr>
        <p:txBody>
          <a:bodyPr wrap="square" lIns="0" tIns="0" rIns="0" bIns="0" rtlCol="0" anchor="ctr"/>
          <a:lstStyle/>
          <a:p>
            <a:pPr indent="0" marL="0">
              <a:buNone/>
            </a:pPr>
            <a:r>
              <a:rPr lang="en-US" sz="2000" b="1" dirty="0">
                <a:solidFill>
                  <a:schemeClr val="bg1"/>
                </a:solidFill>
              </a:rPr>
              <a:t>Load</a:t>
            </a:r>
            <a:endParaRPr lang="en-US" sz="2000" dirty="0"/>
          </a:p>
        </p:txBody>
      </p:sp>
      <p:sp>
        <p:nvSpPr>
          <p:cNvPr id="15" name="Text 11"/>
          <p:cNvSpPr txBox="1"/>
          <p:nvPr/>
        </p:nvSpPr>
        <p:spPr>
          <a:xfrm>
            <a:off x="2788920" y="2788920"/>
            <a:ext cx="1463040" cy="1463040"/>
          </a:xfrm>
          <a:prstGeom prst="rect">
            <a:avLst/>
          </a:prstGeom>
          <a:noFill/>
          <a:ln/>
        </p:spPr>
        <p:txBody>
          <a:bodyPr wrap="square" lIns="0" tIns="0" rIns="0" bIns="0" rtlCol="0" anchor="t"/>
          <a:lstStyle/>
          <a:p>
            <a:pPr indent="0" marL="0">
              <a:buNone/>
            </a:pPr>
            <a:r>
              <a:rPr lang="en-US" sz="1300" dirty="0">
                <a:solidFill>
                  <a:schemeClr val="bg2"/>
                </a:solidFill>
              </a:rPr>
              <a:t>load.py loads it all through the Aura MCP server. Just a browser sign‑in, no password</a:t>
            </a:r>
            <a:endParaRPr lang="en-US" sz="1300" dirty="0"/>
          </a:p>
        </p:txBody>
      </p:sp>
      <p:sp>
        <p:nvSpPr>
          <p:cNvPr id="16" name="flow arrow 1"/>
          <p:cNvSpPr/>
          <p:nvPr/>
        </p:nvSpPr>
        <p:spPr>
          <a:xfrm rot="5400000">
            <a:off x="4411980" y="2766060"/>
            <a:ext cx="274320" cy="137160"/>
          </a:xfrm>
          <a:prstGeom prst="triangle">
            <a:avLst/>
          </a:prstGeom>
          <a:solidFill>
            <a:schemeClr val="accent5"/>
          </a:solidFill>
          <a:ln w="12700">
            <a:solidFill>
              <a:schemeClr val="accent5"/>
            </a:solidFill>
            <a:prstDash val="solid"/>
          </a:ln>
        </p:spPr>
      </p:sp>
      <p:sp>
        <p:nvSpPr>
          <p:cNvPr id="17" name="Ask card"/>
          <p:cNvSpPr/>
          <p:nvPr/>
        </p:nvSpPr>
        <p:spPr>
          <a:xfrm>
            <a:off x="4663440" y="1280160"/>
            <a:ext cx="1874520" cy="2743200"/>
          </a:xfrm>
          <a:prstGeom prst="roundRect">
            <a:avLst>
              <a:gd name="adj" fmla="val 5854"/>
            </a:avLst>
          </a:prstGeom>
          <a:solidFill>
            <a:schemeClr val="tx2"/>
          </a:solidFill>
          <a:ln w="12700">
            <a:solidFill>
              <a:schemeClr val="tx2"/>
            </a:solidFill>
            <a:prstDash val="solid"/>
          </a:ln>
        </p:spPr>
      </p:sp>
      <p:sp>
        <p:nvSpPr>
          <p:cNvPr id="18" name="Ask circle"/>
          <p:cNvSpPr/>
          <p:nvPr/>
        </p:nvSpPr>
        <p:spPr>
          <a:xfrm>
            <a:off x="4892040" y="1508760"/>
            <a:ext cx="640080" cy="640080"/>
          </a:xfrm>
          <a:prstGeom prst="ellipse">
            <a:avLst/>
          </a:prstGeom>
          <a:solidFill>
            <a:schemeClr val="accent3"/>
          </a:solidFill>
          <a:ln w="12700">
            <a:solidFill>
              <a:schemeClr val="accent3"/>
            </a:solidFill>
            <a:prstDash val="solid"/>
          </a:ln>
        </p:spPr>
      </p:sp>
      <p:pic>
        <p:nvPicPr>
          <p:cNvPr id="19" name="Ask icon" descr="preencoded.png">    </p:cNvPr>
          <p:cNvPicPr>
            <a:picLocks noChangeAspect="1"/>
          </p:cNvPicPr>
          <p:nvPr/>
        </p:nvPicPr>
        <p:blipFill>
          <a:blip r:embed="rId3"/>
          <a:stretch>
            <a:fillRect/>
          </a:stretch>
        </p:blipFill>
        <p:spPr>
          <a:xfrm>
            <a:off x="5052060" y="1668780"/>
            <a:ext cx="320040" cy="320040"/>
          </a:xfrm>
          <a:prstGeom prst="rect">
            <a:avLst/>
          </a:prstGeom>
        </p:spPr>
      </p:pic>
      <p:sp>
        <p:nvSpPr>
          <p:cNvPr id="20" name="Text 15"/>
          <p:cNvSpPr txBox="1"/>
          <p:nvPr/>
        </p:nvSpPr>
        <p:spPr>
          <a:xfrm>
            <a:off x="6035040" y="1508760"/>
            <a:ext cx="320040" cy="640080"/>
          </a:xfrm>
          <a:prstGeom prst="rect">
            <a:avLst/>
          </a:prstGeom>
          <a:noFill/>
          <a:ln/>
        </p:spPr>
        <p:txBody>
          <a:bodyPr wrap="square" lIns="0" tIns="0" rIns="0" bIns="0" rtlCol="0" anchor="ctr"/>
          <a:lstStyle/>
          <a:p>
            <a:pPr algn="r" indent="0" marL="0">
              <a:buNone/>
            </a:pPr>
            <a:r>
              <a:rPr lang="en-US" sz="2400" b="1" dirty="0">
                <a:solidFill>
                  <a:schemeClr val="accent3"/>
                </a:solidFill>
              </a:rPr>
              <a:t>3</a:t>
            </a:r>
            <a:endParaRPr lang="en-US" sz="2400" dirty="0"/>
          </a:p>
        </p:txBody>
      </p:sp>
      <p:sp>
        <p:nvSpPr>
          <p:cNvPr id="21" name="Text 16"/>
          <p:cNvSpPr txBox="1"/>
          <p:nvPr/>
        </p:nvSpPr>
        <p:spPr>
          <a:xfrm>
            <a:off x="4892040" y="2331720"/>
            <a:ext cx="1463040" cy="411480"/>
          </a:xfrm>
          <a:prstGeom prst="rect">
            <a:avLst/>
          </a:prstGeom>
          <a:noFill/>
          <a:ln/>
        </p:spPr>
        <p:txBody>
          <a:bodyPr wrap="square" lIns="0" tIns="0" rIns="0" bIns="0" rtlCol="0" anchor="ctr"/>
          <a:lstStyle/>
          <a:p>
            <a:pPr indent="0" marL="0">
              <a:buNone/>
            </a:pPr>
            <a:r>
              <a:rPr lang="en-US" sz="2000" b="1" dirty="0">
                <a:solidFill>
                  <a:schemeClr val="bg1"/>
                </a:solidFill>
              </a:rPr>
              <a:t>Ask</a:t>
            </a:r>
            <a:endParaRPr lang="en-US" sz="2000" dirty="0"/>
          </a:p>
        </p:txBody>
      </p:sp>
      <p:sp>
        <p:nvSpPr>
          <p:cNvPr id="22" name="Text 17"/>
          <p:cNvSpPr txBox="1"/>
          <p:nvPr/>
        </p:nvSpPr>
        <p:spPr>
          <a:xfrm>
            <a:off x="4892040" y="2788920"/>
            <a:ext cx="1463040" cy="1463040"/>
          </a:xfrm>
          <a:prstGeom prst="rect">
            <a:avLst/>
          </a:prstGeom>
          <a:noFill/>
          <a:ln/>
        </p:spPr>
        <p:txBody>
          <a:bodyPr wrap="square" lIns="0" tIns="0" rIns="0" bIns="0" rtlCol="0" anchor="t"/>
          <a:lstStyle/>
          <a:p>
            <a:pPr indent="0" marL="0">
              <a:buNone/>
            </a:pPr>
            <a:r>
              <a:rPr lang="en-US" sz="1300" dirty="0">
                <a:solidFill>
                  <a:schemeClr val="bg2"/>
                </a:solidFill>
              </a:rPr>
              <a:t>8 Cypher queries. Any coding agent can run them too, with read‑cypher</a:t>
            </a:r>
            <a:endParaRPr lang="en-US" sz="1300" dirty="0"/>
          </a:p>
        </p:txBody>
      </p:sp>
      <p:sp>
        <p:nvSpPr>
          <p:cNvPr id="23" name="flow arrow 2"/>
          <p:cNvSpPr/>
          <p:nvPr/>
        </p:nvSpPr>
        <p:spPr>
          <a:xfrm rot="5400000">
            <a:off x="6515100" y="2766060"/>
            <a:ext cx="274320" cy="137160"/>
          </a:xfrm>
          <a:prstGeom prst="triangle">
            <a:avLst/>
          </a:prstGeom>
          <a:solidFill>
            <a:schemeClr val="accent5"/>
          </a:solidFill>
          <a:ln w="12700">
            <a:solidFill>
              <a:schemeClr val="accent5"/>
            </a:solidFill>
            <a:prstDash val="solid"/>
          </a:ln>
        </p:spPr>
      </p:sp>
      <p:sp>
        <p:nvSpPr>
          <p:cNvPr id="24" name="See card"/>
          <p:cNvSpPr/>
          <p:nvPr/>
        </p:nvSpPr>
        <p:spPr>
          <a:xfrm>
            <a:off x="6766560" y="1280160"/>
            <a:ext cx="1874520" cy="2743200"/>
          </a:xfrm>
          <a:prstGeom prst="roundRect">
            <a:avLst>
              <a:gd name="adj" fmla="val 5854"/>
            </a:avLst>
          </a:prstGeom>
          <a:solidFill>
            <a:schemeClr val="tx2"/>
          </a:solidFill>
          <a:ln w="12700">
            <a:solidFill>
              <a:schemeClr val="tx2"/>
            </a:solidFill>
            <a:prstDash val="solid"/>
          </a:ln>
        </p:spPr>
      </p:sp>
      <p:sp>
        <p:nvSpPr>
          <p:cNvPr id="25" name="See circle"/>
          <p:cNvSpPr/>
          <p:nvPr/>
        </p:nvSpPr>
        <p:spPr>
          <a:xfrm>
            <a:off x="6995160" y="1508760"/>
            <a:ext cx="640080" cy="640080"/>
          </a:xfrm>
          <a:prstGeom prst="ellipse">
            <a:avLst/>
          </a:prstGeom>
          <a:solidFill>
            <a:schemeClr val="accent4"/>
          </a:solidFill>
          <a:ln w="12700">
            <a:solidFill>
              <a:schemeClr val="accent4"/>
            </a:solidFill>
            <a:prstDash val="solid"/>
          </a:ln>
        </p:spPr>
      </p:sp>
      <p:pic>
        <p:nvPicPr>
          <p:cNvPr id="26" name="See icon" descr="preencoded.png">    </p:cNvPr>
          <p:cNvPicPr>
            <a:picLocks noChangeAspect="1"/>
          </p:cNvPicPr>
          <p:nvPr/>
        </p:nvPicPr>
        <p:blipFill>
          <a:blip r:embed="rId4"/>
          <a:stretch>
            <a:fillRect/>
          </a:stretch>
        </p:blipFill>
        <p:spPr>
          <a:xfrm>
            <a:off x="7155180" y="1668780"/>
            <a:ext cx="320040" cy="320040"/>
          </a:xfrm>
          <a:prstGeom prst="rect">
            <a:avLst/>
          </a:prstGeom>
        </p:spPr>
      </p:pic>
      <p:sp>
        <p:nvSpPr>
          <p:cNvPr id="27" name="Text 21"/>
          <p:cNvSpPr txBox="1"/>
          <p:nvPr/>
        </p:nvSpPr>
        <p:spPr>
          <a:xfrm>
            <a:off x="8138160" y="1508760"/>
            <a:ext cx="320040" cy="640080"/>
          </a:xfrm>
          <a:prstGeom prst="rect">
            <a:avLst/>
          </a:prstGeom>
          <a:noFill/>
          <a:ln/>
        </p:spPr>
        <p:txBody>
          <a:bodyPr wrap="square" lIns="0" tIns="0" rIns="0" bIns="0" rtlCol="0" anchor="ctr"/>
          <a:lstStyle/>
          <a:p>
            <a:pPr algn="r" indent="0" marL="0">
              <a:buNone/>
            </a:pPr>
            <a:r>
              <a:rPr lang="en-US" sz="2400" b="1" dirty="0">
                <a:solidFill>
                  <a:schemeClr val="accent4"/>
                </a:solidFill>
              </a:rPr>
              <a:t>4</a:t>
            </a:r>
            <a:endParaRPr lang="en-US" sz="2400" dirty="0"/>
          </a:p>
        </p:txBody>
      </p:sp>
      <p:sp>
        <p:nvSpPr>
          <p:cNvPr id="28" name="Text 22"/>
          <p:cNvSpPr txBox="1"/>
          <p:nvPr/>
        </p:nvSpPr>
        <p:spPr>
          <a:xfrm>
            <a:off x="6995160" y="2331720"/>
            <a:ext cx="1463040" cy="411480"/>
          </a:xfrm>
          <a:prstGeom prst="rect">
            <a:avLst/>
          </a:prstGeom>
          <a:noFill/>
          <a:ln/>
        </p:spPr>
        <p:txBody>
          <a:bodyPr wrap="square" lIns="0" tIns="0" rIns="0" bIns="0" rtlCol="0" anchor="ctr"/>
          <a:lstStyle/>
          <a:p>
            <a:pPr indent="0" marL="0">
              <a:buNone/>
            </a:pPr>
            <a:r>
              <a:rPr lang="en-US" sz="2000" b="1" dirty="0">
                <a:solidFill>
                  <a:schemeClr val="bg1"/>
                </a:solidFill>
              </a:rPr>
              <a:t>See</a:t>
            </a:r>
            <a:endParaRPr lang="en-US" sz="2000" dirty="0"/>
          </a:p>
        </p:txBody>
      </p:sp>
      <p:sp>
        <p:nvSpPr>
          <p:cNvPr id="29" name="Text 23"/>
          <p:cNvSpPr txBox="1"/>
          <p:nvPr/>
        </p:nvSpPr>
        <p:spPr>
          <a:xfrm>
            <a:off x="6995160" y="2788920"/>
            <a:ext cx="1463040" cy="1463040"/>
          </a:xfrm>
          <a:prstGeom prst="rect">
            <a:avLst/>
          </a:prstGeom>
          <a:noFill/>
          <a:ln/>
        </p:spPr>
        <p:txBody>
          <a:bodyPr wrap="square" lIns="0" tIns="0" rIns="0" bIns="0" rtlCol="0" anchor="t"/>
          <a:lstStyle/>
          <a:p>
            <a:pPr indent="0" marL="0">
              <a:buNone/>
            </a:pPr>
            <a:r>
              <a:rPr lang="en-US" sz="1300" dirty="0">
                <a:solidFill>
                  <a:schemeClr val="bg2"/>
                </a:solidFill>
              </a:rPr>
              <a:t>visualize.py renders the schema and one fan's journey as an interactive graph</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Each answer is one query away</a:t>
            </a:r>
            <a:endParaRPr lang="en-US" sz="3000" dirty="0"/>
          </a:p>
        </p:txBody>
      </p:sp>
      <p:sp>
        <p:nvSpPr>
          <p:cNvPr id="3" name="Festival loyalty card"/>
          <p:cNvSpPr/>
          <p:nvPr/>
        </p:nvSpPr>
        <p:spPr>
          <a:xfrm>
            <a:off x="457200" y="1188720"/>
            <a:ext cx="4023360" cy="1554480"/>
          </a:xfrm>
          <a:prstGeom prst="roundRect">
            <a:avLst>
              <a:gd name="adj" fmla="val 7059"/>
            </a:avLst>
          </a:prstGeom>
          <a:solidFill>
            <a:schemeClr val="tx2"/>
          </a:solidFill>
          <a:ln w="12700">
            <a:solidFill>
              <a:schemeClr val="tx2"/>
            </a:solidFill>
            <a:prstDash val="solid"/>
          </a:ln>
        </p:spPr>
      </p:sp>
      <p:sp>
        <p:nvSpPr>
          <p:cNvPr id="4" name="Text 2"/>
          <p:cNvSpPr txBox="1"/>
          <p:nvPr/>
        </p:nvSpPr>
        <p:spPr>
          <a:xfrm>
            <a:off x="731520" y="1371600"/>
            <a:ext cx="1463040" cy="1188720"/>
          </a:xfrm>
          <a:prstGeom prst="rect">
            <a:avLst/>
          </a:prstGeom>
          <a:noFill/>
          <a:ln/>
        </p:spPr>
        <p:txBody>
          <a:bodyPr wrap="square" lIns="0" tIns="0" rIns="0" bIns="0" rtlCol="0" anchor="ctr"/>
          <a:lstStyle/>
          <a:p>
            <a:pPr indent="0" marL="0">
              <a:buNone/>
            </a:pPr>
            <a:r>
              <a:rPr lang="en-US" sz="4400" b="1" dirty="0">
                <a:solidFill>
                  <a:schemeClr val="accent1"/>
                </a:solidFill>
              </a:rPr>
              <a:t>118</a:t>
            </a:r>
            <a:endParaRPr lang="en-US" sz="4400" dirty="0"/>
          </a:p>
        </p:txBody>
      </p:sp>
      <p:sp>
        <p:nvSpPr>
          <p:cNvPr id="5" name="Text 3"/>
          <p:cNvSpPr txBox="1"/>
          <p:nvPr/>
        </p:nvSpPr>
        <p:spPr>
          <a:xfrm>
            <a:off x="2286000" y="1417320"/>
            <a:ext cx="201168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FESTIVAL LOYALTY</a:t>
            </a:r>
            <a:endParaRPr lang="en-US" sz="1000" dirty="0"/>
          </a:p>
        </p:txBody>
      </p:sp>
      <p:sp>
        <p:nvSpPr>
          <p:cNvPr id="6" name="Text 4"/>
          <p:cNvSpPr txBox="1"/>
          <p:nvPr/>
        </p:nvSpPr>
        <p:spPr>
          <a:xfrm>
            <a:off x="2286000" y="1691640"/>
            <a:ext cx="2011680" cy="914400"/>
          </a:xfrm>
          <a:prstGeom prst="rect">
            <a:avLst/>
          </a:prstGeom>
          <a:noFill/>
          <a:ln/>
        </p:spPr>
        <p:txBody>
          <a:bodyPr wrap="square" lIns="0" tIns="0" rIns="0" bIns="0" rtlCol="0" anchor="t"/>
          <a:lstStyle/>
          <a:p>
            <a:pPr indent="0" marL="0">
              <a:buNone/>
            </a:pPr>
            <a:r>
              <a:rPr lang="en-US" sz="1300" dirty="0">
                <a:solidFill>
                  <a:schemeClr val="bg1"/>
                </a:solidFill>
              </a:rPr>
              <a:t>loyal Nordlicht fans went to every past edition but haven't bought 2027 yet</a:t>
            </a:r>
            <a:endParaRPr lang="en-US" sz="1300" dirty="0"/>
          </a:p>
        </p:txBody>
      </p:sp>
      <p:sp>
        <p:nvSpPr>
          <p:cNvPr id="7" name="Email fatigue card"/>
          <p:cNvSpPr/>
          <p:nvPr/>
        </p:nvSpPr>
        <p:spPr>
          <a:xfrm>
            <a:off x="4663440" y="1188720"/>
            <a:ext cx="4023360" cy="1554480"/>
          </a:xfrm>
          <a:prstGeom prst="roundRect">
            <a:avLst>
              <a:gd name="adj" fmla="val 7059"/>
            </a:avLst>
          </a:prstGeom>
          <a:solidFill>
            <a:schemeClr val="tx2"/>
          </a:solidFill>
          <a:ln w="12700">
            <a:solidFill>
              <a:schemeClr val="tx2"/>
            </a:solidFill>
            <a:prstDash val="solid"/>
          </a:ln>
        </p:spPr>
      </p:sp>
      <p:sp>
        <p:nvSpPr>
          <p:cNvPr id="8" name="Text 6"/>
          <p:cNvSpPr txBox="1"/>
          <p:nvPr/>
        </p:nvSpPr>
        <p:spPr>
          <a:xfrm>
            <a:off x="4937760" y="1371600"/>
            <a:ext cx="1463040" cy="1188720"/>
          </a:xfrm>
          <a:prstGeom prst="rect">
            <a:avLst/>
          </a:prstGeom>
          <a:noFill/>
          <a:ln/>
        </p:spPr>
        <p:txBody>
          <a:bodyPr wrap="square" lIns="0" tIns="0" rIns="0" bIns="0" rtlCol="0" anchor="ctr"/>
          <a:lstStyle/>
          <a:p>
            <a:pPr indent="0" marL="0">
              <a:buNone/>
            </a:pPr>
            <a:r>
              <a:rPr lang="en-US" sz="4400" b="1" dirty="0">
                <a:solidFill>
                  <a:schemeClr val="accent3"/>
                </a:solidFill>
              </a:rPr>
              <a:t>395</a:t>
            </a:r>
            <a:endParaRPr lang="en-US" sz="4400" dirty="0"/>
          </a:p>
        </p:txBody>
      </p:sp>
      <p:sp>
        <p:nvSpPr>
          <p:cNvPr id="9" name="Text 7"/>
          <p:cNvSpPr txBox="1"/>
          <p:nvPr/>
        </p:nvSpPr>
        <p:spPr>
          <a:xfrm>
            <a:off x="6492240" y="1417320"/>
            <a:ext cx="2011680" cy="274320"/>
          </a:xfrm>
          <a:prstGeom prst="rect">
            <a:avLst/>
          </a:prstGeom>
          <a:noFill/>
          <a:ln/>
        </p:spPr>
        <p:txBody>
          <a:bodyPr wrap="square" lIns="0" tIns="0" rIns="0" bIns="0" rtlCol="0" anchor="ctr"/>
          <a:lstStyle/>
          <a:p>
            <a:pPr indent="0" marL="0">
              <a:buNone/>
            </a:pPr>
            <a:r>
              <a:rPr lang="en-US" sz="1000" b="1" spc="100" kern="0" dirty="0">
                <a:solidFill>
                  <a:schemeClr val="accent3"/>
                </a:solidFill>
              </a:rPr>
              <a:t>EMAIL FATIGUE</a:t>
            </a:r>
            <a:endParaRPr lang="en-US" sz="1000" dirty="0"/>
          </a:p>
        </p:txBody>
      </p:sp>
      <p:sp>
        <p:nvSpPr>
          <p:cNvPr id="10" name="Text 8"/>
          <p:cNvSpPr txBox="1"/>
          <p:nvPr/>
        </p:nvSpPr>
        <p:spPr>
          <a:xfrm>
            <a:off x="6492240" y="1691640"/>
            <a:ext cx="2011680" cy="914400"/>
          </a:xfrm>
          <a:prstGeom prst="rect">
            <a:avLst/>
          </a:prstGeom>
          <a:noFill/>
          <a:ln/>
        </p:spPr>
        <p:txBody>
          <a:bodyPr wrap="square" lIns="0" tIns="0" rIns="0" bIns="0" rtlCol="0" anchor="t"/>
          <a:lstStyle/>
          <a:p>
            <a:pPr indent="0" marL="0">
              <a:buNone/>
            </a:pPr>
            <a:r>
              <a:rPr lang="en-US" sz="1300" dirty="0">
                <a:solidFill>
                  <a:schemeClr val="bg1"/>
                </a:solidFill>
              </a:rPr>
              <a:t>fans got 9 emails on average in 6 months and opened none. Suppress them</a:t>
            </a:r>
            <a:endParaRPr lang="en-US" sz="1300" dirty="0"/>
          </a:p>
        </p:txBody>
      </p:sp>
      <p:sp>
        <p:nvSpPr>
          <p:cNvPr id="11" name="Profile enrichment card"/>
          <p:cNvSpPr/>
          <p:nvPr/>
        </p:nvSpPr>
        <p:spPr>
          <a:xfrm>
            <a:off x="457200" y="2926080"/>
            <a:ext cx="4023360" cy="1554480"/>
          </a:xfrm>
          <a:prstGeom prst="roundRect">
            <a:avLst>
              <a:gd name="adj" fmla="val 7059"/>
            </a:avLst>
          </a:prstGeom>
          <a:solidFill>
            <a:schemeClr val="tx2"/>
          </a:solidFill>
          <a:ln w="12700">
            <a:solidFill>
              <a:schemeClr val="tx2"/>
            </a:solidFill>
            <a:prstDash val="solid"/>
          </a:ln>
        </p:spPr>
      </p:sp>
      <p:sp>
        <p:nvSpPr>
          <p:cNvPr id="12" name="Text 10"/>
          <p:cNvSpPr txBox="1"/>
          <p:nvPr/>
        </p:nvSpPr>
        <p:spPr>
          <a:xfrm>
            <a:off x="731520" y="3108960"/>
            <a:ext cx="1463040" cy="1188720"/>
          </a:xfrm>
          <a:prstGeom prst="rect">
            <a:avLst/>
          </a:prstGeom>
          <a:noFill/>
          <a:ln/>
        </p:spPr>
        <p:txBody>
          <a:bodyPr wrap="square" lIns="0" tIns="0" rIns="0" bIns="0" rtlCol="0" anchor="ctr"/>
          <a:lstStyle/>
          <a:p>
            <a:pPr indent="0" marL="0">
              <a:buNone/>
            </a:pPr>
            <a:r>
              <a:rPr lang="en-US" sz="4400" b="1" dirty="0">
                <a:solidFill>
                  <a:schemeClr val="accent2"/>
                </a:solidFill>
              </a:rPr>
              <a:t>610</a:t>
            </a:r>
            <a:endParaRPr lang="en-US" sz="4400" dirty="0"/>
          </a:p>
        </p:txBody>
      </p:sp>
      <p:sp>
        <p:nvSpPr>
          <p:cNvPr id="13" name="Text 11"/>
          <p:cNvSpPr txBox="1"/>
          <p:nvPr/>
        </p:nvSpPr>
        <p:spPr>
          <a:xfrm>
            <a:off x="2286000" y="3154680"/>
            <a:ext cx="2011680" cy="274320"/>
          </a:xfrm>
          <a:prstGeom prst="rect">
            <a:avLst/>
          </a:prstGeom>
          <a:noFill/>
          <a:ln/>
        </p:spPr>
        <p:txBody>
          <a:bodyPr wrap="square" lIns="0" tIns="0" rIns="0" bIns="0" rtlCol="0" anchor="ctr"/>
          <a:lstStyle/>
          <a:p>
            <a:pPr indent="0" marL="0">
              <a:buNone/>
            </a:pPr>
            <a:r>
              <a:rPr lang="en-US" sz="1000" b="1" spc="100" kern="0" dirty="0">
                <a:solidFill>
                  <a:schemeClr val="accent2"/>
                </a:solidFill>
              </a:rPr>
              <a:t>PROFILE ENRICHMENT</a:t>
            </a:r>
            <a:endParaRPr lang="en-US" sz="1000" dirty="0"/>
          </a:p>
        </p:txBody>
      </p:sp>
      <p:sp>
        <p:nvSpPr>
          <p:cNvPr id="14" name="Text 12"/>
          <p:cNvSpPr txBox="1"/>
          <p:nvPr/>
        </p:nvSpPr>
        <p:spPr>
          <a:xfrm>
            <a:off x="2286000" y="3429000"/>
            <a:ext cx="2011680" cy="914400"/>
          </a:xfrm>
          <a:prstGeom prst="rect">
            <a:avLst/>
          </a:prstGeom>
          <a:noFill/>
          <a:ln/>
        </p:spPr>
        <p:txBody>
          <a:bodyPr wrap="square" lIns="0" tIns="0" rIns="0" bIns="0" rtlCol="0" anchor="t"/>
          <a:lstStyle/>
          <a:p>
            <a:pPr indent="0" marL="0">
              <a:buNone/>
            </a:pPr>
            <a:r>
              <a:rPr lang="en-US" sz="1300" dirty="0">
                <a:solidFill>
                  <a:schemeClr val="bg1"/>
                </a:solidFill>
              </a:rPr>
              <a:t>fans never told us a genre, but their tickets say Pop</a:t>
            </a:r>
            <a:endParaRPr lang="en-US" sz="1300" dirty="0"/>
          </a:p>
        </p:txBody>
      </p:sp>
      <p:sp>
        <p:nvSpPr>
          <p:cNvPr id="15" name="Audience overlap card"/>
          <p:cNvSpPr/>
          <p:nvPr/>
        </p:nvSpPr>
        <p:spPr>
          <a:xfrm>
            <a:off x="4663440" y="2926080"/>
            <a:ext cx="4023360" cy="1554480"/>
          </a:xfrm>
          <a:prstGeom prst="roundRect">
            <a:avLst>
              <a:gd name="adj" fmla="val 7059"/>
            </a:avLst>
          </a:prstGeom>
          <a:solidFill>
            <a:schemeClr val="tx2"/>
          </a:solidFill>
          <a:ln w="12700">
            <a:solidFill>
              <a:schemeClr val="tx2"/>
            </a:solidFill>
            <a:prstDash val="solid"/>
          </a:ln>
        </p:spPr>
      </p:sp>
      <p:sp>
        <p:nvSpPr>
          <p:cNvPr id="16" name="Text 14"/>
          <p:cNvSpPr txBox="1"/>
          <p:nvPr/>
        </p:nvSpPr>
        <p:spPr>
          <a:xfrm>
            <a:off x="4937760" y="3108960"/>
            <a:ext cx="1463040" cy="1188720"/>
          </a:xfrm>
          <a:prstGeom prst="rect">
            <a:avLst/>
          </a:prstGeom>
          <a:noFill/>
          <a:ln/>
        </p:spPr>
        <p:txBody>
          <a:bodyPr wrap="square" lIns="0" tIns="0" rIns="0" bIns="0" rtlCol="0" anchor="ctr"/>
          <a:lstStyle/>
          <a:p>
            <a:pPr indent="0" marL="0">
              <a:buNone/>
            </a:pPr>
            <a:r>
              <a:rPr lang="en-US" sz="4400" b="1" dirty="0">
                <a:solidFill>
                  <a:schemeClr val="accent4"/>
                </a:solidFill>
              </a:rPr>
              <a:t>5.4×</a:t>
            </a:r>
            <a:endParaRPr lang="en-US" sz="4400" dirty="0"/>
          </a:p>
        </p:txBody>
      </p:sp>
      <p:sp>
        <p:nvSpPr>
          <p:cNvPr id="17" name="Text 15"/>
          <p:cNvSpPr txBox="1"/>
          <p:nvPr/>
        </p:nvSpPr>
        <p:spPr>
          <a:xfrm>
            <a:off x="6492240" y="3154680"/>
            <a:ext cx="2011680" cy="274320"/>
          </a:xfrm>
          <a:prstGeom prst="rect">
            <a:avLst/>
          </a:prstGeom>
          <a:noFill/>
          <a:ln/>
        </p:spPr>
        <p:txBody>
          <a:bodyPr wrap="square" lIns="0" tIns="0" rIns="0" bIns="0" rtlCol="0" anchor="ctr"/>
          <a:lstStyle/>
          <a:p>
            <a:pPr indent="0" marL="0">
              <a:buNone/>
            </a:pPr>
            <a:r>
              <a:rPr lang="en-US" sz="1000" b="1" spc="100" kern="0" dirty="0">
                <a:solidFill>
                  <a:schemeClr val="accent4"/>
                </a:solidFill>
              </a:rPr>
              <a:t>AUDIENCE OVERLAP</a:t>
            </a:r>
            <a:endParaRPr lang="en-US" sz="1000" dirty="0"/>
          </a:p>
        </p:txBody>
      </p:sp>
      <p:sp>
        <p:nvSpPr>
          <p:cNvPr id="18" name="Text 16"/>
          <p:cNvSpPr txBox="1"/>
          <p:nvPr/>
        </p:nvSpPr>
        <p:spPr>
          <a:xfrm>
            <a:off x="6492240" y="3429000"/>
            <a:ext cx="2011680" cy="914400"/>
          </a:xfrm>
          <a:prstGeom prst="rect">
            <a:avLst/>
          </a:prstGeom>
          <a:noFill/>
          <a:ln/>
        </p:spPr>
        <p:txBody>
          <a:bodyPr wrap="square" lIns="0" tIns="0" rIns="0" bIns="0" rtlCol="0" anchor="t"/>
          <a:lstStyle/>
          <a:p>
            <a:pPr indent="0" marL="0">
              <a:buNone/>
            </a:pPr>
            <a:r>
              <a:rPr lang="en-US" sz="1300" dirty="0">
                <a:solidFill>
                  <a:schemeClr val="bg1"/>
                </a:solidFill>
              </a:rPr>
              <a:t>Kollaps Kids fans are 5.4 times as likely to buy The Kerosene Saints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Clicks connect straight to ticket revenue</a:t>
            </a:r>
            <a:endParaRPr lang="en-US" sz="3000" dirty="0"/>
          </a:p>
        </p:txBody>
      </p:sp>
      <p:graphicFrame>
        <p:nvGraphicFramePr>
          <p:cNvPr id="3" name="Chart 0" descr=""/>
          <p:cNvGraphicFramePr/>
          <p:nvPr>
            <p:ph idx="101" type="chart" hasCustomPrompt="1"/>
          </p:nvPr>
        </p:nvGraphicFramePr>
        <p:xfrm>
          <a:off x="457200" y="1188720"/>
          <a:ext cx="4937760" cy="3383280"/>
        </p:xfrm>
        <a:graphic xmlns:a="http://schemas.openxmlformats.org/drawingml/2006/main">
          <a:graphicData uri="http://schemas.openxmlformats.org/drawingml/2006/chart">
            <c:chart xmlns:c="http://schemas.openxmlformats.org/drawingml/2006/chart" r:id="rId1"/>
          </a:graphicData>
        </a:graphic>
      </p:graphicFrame>
      <p:sp>
        <p:nvSpPr>
          <p:cNvPr id="4" name="attribution card"/>
          <p:cNvSpPr/>
          <p:nvPr/>
        </p:nvSpPr>
        <p:spPr>
          <a:xfrm>
            <a:off x="5669280" y="1234440"/>
            <a:ext cx="3017520" cy="1508760"/>
          </a:xfrm>
          <a:prstGeom prst="roundRect">
            <a:avLst>
              <a:gd name="adj" fmla="val 7273"/>
            </a:avLst>
          </a:prstGeom>
          <a:solidFill>
            <a:schemeClr val="tx2"/>
          </a:solidFill>
          <a:ln w="12700">
            <a:solidFill>
              <a:schemeClr val="tx2"/>
            </a:solidFill>
            <a:prstDash val="solid"/>
          </a:ln>
        </p:spPr>
      </p:sp>
      <p:sp>
        <p:nvSpPr>
          <p:cNvPr id="5" name="Text 2"/>
          <p:cNvSpPr txBox="1"/>
          <p:nvPr/>
        </p:nvSpPr>
        <p:spPr>
          <a:xfrm>
            <a:off x="5897880" y="1371600"/>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ATTRIBUTION</a:t>
            </a:r>
            <a:endParaRPr lang="en-US" sz="1000" dirty="0"/>
          </a:p>
        </p:txBody>
      </p:sp>
      <p:sp>
        <p:nvSpPr>
          <p:cNvPr id="6" name="Text 3"/>
          <p:cNvSpPr txBox="1"/>
          <p:nvPr/>
        </p:nvSpPr>
        <p:spPr>
          <a:xfrm>
            <a:off x="5897880" y="1664208"/>
            <a:ext cx="2651760" cy="1005840"/>
          </a:xfrm>
          <a:prstGeom prst="rect">
            <a:avLst/>
          </a:prstGeom>
          <a:noFill/>
          <a:ln/>
        </p:spPr>
        <p:txBody>
          <a:bodyPr wrap="square" lIns="0" tIns="0" rIns="0" bIns="0" rtlCol="0" anchor="t"/>
          <a:lstStyle/>
          <a:p>
            <a:pPr indent="0" marL="0">
              <a:buNone/>
            </a:pPr>
            <a:r>
              <a:rPr lang="en-US" sz="1300" dirty="0">
                <a:solidFill>
                  <a:schemeClr val="bg1"/>
                </a:solidFill>
              </a:rPr>
              <a:t>Each click is joined to orders for the event that campaign promotes. Newsletters bring in the most revenue.</a:t>
            </a:r>
            <a:endParaRPr lang="en-US" sz="1300" dirty="0"/>
          </a:p>
        </p:txBody>
      </p:sp>
      <p:sp>
        <p:nvSpPr>
          <p:cNvPr id="7" name="cross-sell card"/>
          <p:cNvSpPr/>
          <p:nvPr/>
        </p:nvSpPr>
        <p:spPr>
          <a:xfrm>
            <a:off x="5669280" y="2926080"/>
            <a:ext cx="3017520" cy="1645920"/>
          </a:xfrm>
          <a:prstGeom prst="roundRect">
            <a:avLst>
              <a:gd name="adj" fmla="val 6667"/>
            </a:avLst>
          </a:prstGeom>
          <a:solidFill>
            <a:schemeClr val="tx2"/>
          </a:solidFill>
          <a:ln w="12700">
            <a:solidFill>
              <a:schemeClr val="tx2"/>
            </a:solidFill>
            <a:prstDash val="solid"/>
          </a:ln>
        </p:spPr>
      </p:sp>
      <p:sp>
        <p:nvSpPr>
          <p:cNvPr id="8" name="Text 5"/>
          <p:cNvSpPr txBox="1"/>
          <p:nvPr/>
        </p:nvSpPr>
        <p:spPr>
          <a:xfrm>
            <a:off x="5897880" y="3063240"/>
            <a:ext cx="2651760" cy="274320"/>
          </a:xfrm>
          <a:prstGeom prst="rect">
            <a:avLst/>
          </a:prstGeom>
          <a:noFill/>
          <a:ln/>
        </p:spPr>
        <p:txBody>
          <a:bodyPr wrap="square" lIns="0" tIns="0" rIns="0" bIns="0" rtlCol="0" anchor="ctr"/>
          <a:lstStyle/>
          <a:p>
            <a:pPr indent="0" marL="0">
              <a:buNone/>
            </a:pPr>
            <a:r>
              <a:rPr lang="en-US" sz="1000" b="1" spc="100" kern="0" dirty="0">
                <a:solidFill>
                  <a:schemeClr val="accent2"/>
                </a:solidFill>
              </a:rPr>
              <a:t>CROSS-SELL</a:t>
            </a:r>
            <a:endParaRPr lang="en-US" sz="1000" dirty="0"/>
          </a:p>
        </p:txBody>
      </p:sp>
      <p:sp>
        <p:nvSpPr>
          <p:cNvPr id="9" name="Text 6"/>
          <p:cNvSpPr txBox="1"/>
          <p:nvPr/>
        </p:nvSpPr>
        <p:spPr>
          <a:xfrm>
            <a:off x="5897880" y="3355848"/>
            <a:ext cx="2651760" cy="1143000"/>
          </a:xfrm>
          <a:prstGeom prst="rect">
            <a:avLst/>
          </a:prstGeom>
          <a:noFill/>
          <a:ln/>
        </p:spPr>
        <p:txBody>
          <a:bodyPr wrap="square" lIns="0" tIns="0" rIns="0" bIns="0" rtlCol="0" anchor="t"/>
          <a:lstStyle/>
          <a:p>
            <a:pPr indent="0" marL="0">
              <a:buNone/>
            </a:pPr>
            <a:r>
              <a:rPr lang="en-US" sz="1300" dirty="0">
                <a:solidFill>
                  <a:schemeClr val="bg1"/>
                </a:solidFill>
              </a:rPr>
              <a:t>No campaign promotes Nova Kaiser in Berlin 2027 yet. The graph ranks 15 fans who already follow the artist and buy similar acts. 10 of them live in Berlin.</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Next: let marketers ask in plain English</a:t>
            </a:r>
            <a:endParaRPr lang="en-US" sz="3000" dirty="0"/>
          </a:p>
        </p:txBody>
      </p:sp>
      <p:sp>
        <p:nvSpPr>
          <p:cNvPr id="3" name="Agent on Aura MCP circle"/>
          <p:cNvSpPr/>
          <p:nvPr/>
        </p:nvSpPr>
        <p:spPr>
          <a:xfrm>
            <a:off x="457200" y="1234440"/>
            <a:ext cx="640080" cy="640080"/>
          </a:xfrm>
          <a:prstGeom prst="ellipse">
            <a:avLst/>
          </a:prstGeom>
          <a:solidFill>
            <a:schemeClr val="accent1"/>
          </a:solidFill>
          <a:ln w="12700">
            <a:solidFill>
              <a:schemeClr val="accent1"/>
            </a:solidFill>
            <a:prstDash val="solid"/>
          </a:ln>
        </p:spPr>
      </p:sp>
      <p:pic>
        <p:nvPicPr>
          <p:cNvPr id="4" name="Agent on Aura MCP icon" descr="preencoded.png">    </p:cNvPr>
          <p:cNvPicPr>
            <a:picLocks noChangeAspect="1"/>
          </p:cNvPicPr>
          <p:nvPr/>
        </p:nvPicPr>
        <p:blipFill>
          <a:blip r:embed="rId1"/>
          <a:stretch>
            <a:fillRect/>
          </a:stretch>
        </p:blipFill>
        <p:spPr>
          <a:xfrm>
            <a:off x="617220" y="1394460"/>
            <a:ext cx="320040" cy="320040"/>
          </a:xfrm>
          <a:prstGeom prst="rect">
            <a:avLst/>
          </a:prstGeom>
        </p:spPr>
      </p:pic>
      <p:sp>
        <p:nvSpPr>
          <p:cNvPr id="5" name="Text 2"/>
          <p:cNvSpPr txBox="1"/>
          <p:nvPr/>
        </p:nvSpPr>
        <p:spPr>
          <a:xfrm>
            <a:off x="1325880" y="1216152"/>
            <a:ext cx="4206240" cy="320040"/>
          </a:xfrm>
          <a:prstGeom prst="rect">
            <a:avLst/>
          </a:prstGeom>
          <a:noFill/>
          <a:ln/>
        </p:spPr>
        <p:txBody>
          <a:bodyPr wrap="square" lIns="0" tIns="0" rIns="0" bIns="0" rtlCol="0" anchor="ctr"/>
          <a:lstStyle/>
          <a:p>
            <a:pPr indent="0" marL="0">
              <a:buNone/>
            </a:pPr>
            <a:r>
              <a:rPr lang="en-US" sz="1800" b="1" dirty="0">
                <a:solidFill>
                  <a:schemeClr val="bg1"/>
                </a:solidFill>
              </a:rPr>
              <a:t>Agent on Aura MCP</a:t>
            </a:r>
            <a:endParaRPr lang="en-US" sz="1800" dirty="0"/>
          </a:p>
        </p:txBody>
      </p:sp>
      <p:sp>
        <p:nvSpPr>
          <p:cNvPr id="6" name="Text 3"/>
          <p:cNvSpPr txBox="1"/>
          <p:nvPr/>
        </p:nvSpPr>
        <p:spPr>
          <a:xfrm>
            <a:off x="1325880" y="1536192"/>
            <a:ext cx="4572000" cy="548640"/>
          </a:xfrm>
          <a:prstGeom prst="rect">
            <a:avLst/>
          </a:prstGeom>
          <a:noFill/>
          <a:ln/>
        </p:spPr>
        <p:txBody>
          <a:bodyPr wrap="square" lIns="0" tIns="0" rIns="0" bIns="0" rtlCol="0" anchor="t"/>
          <a:lstStyle/>
          <a:p>
            <a:pPr indent="0" marL="0">
              <a:buNone/>
            </a:pPr>
            <a:r>
              <a:rPr lang="en-US" sz="1300" dirty="0">
                <a:solidFill>
                  <a:schemeClr val="bg2"/>
                </a:solidFill>
              </a:rPr>
              <a:t>Turn questions like “who should I email about this show?” into these queries automatically</a:t>
            </a:r>
            <a:endParaRPr lang="en-US" sz="1300" dirty="0"/>
          </a:p>
        </p:txBody>
      </p:sp>
      <p:sp>
        <p:nvSpPr>
          <p:cNvPr id="7" name="Agent Memory circle"/>
          <p:cNvSpPr/>
          <p:nvPr/>
        </p:nvSpPr>
        <p:spPr>
          <a:xfrm>
            <a:off x="457200" y="2194560"/>
            <a:ext cx="640080" cy="640080"/>
          </a:xfrm>
          <a:prstGeom prst="ellipse">
            <a:avLst/>
          </a:prstGeom>
          <a:solidFill>
            <a:schemeClr val="accent2"/>
          </a:solidFill>
          <a:ln w="12700">
            <a:solidFill>
              <a:schemeClr val="accent2"/>
            </a:solidFill>
            <a:prstDash val="solid"/>
          </a:ln>
        </p:spPr>
      </p:sp>
      <p:pic>
        <p:nvPicPr>
          <p:cNvPr id="8" name="Agent Memory icon" descr="preencoded.png">    </p:cNvPr>
          <p:cNvPicPr>
            <a:picLocks noChangeAspect="1"/>
          </p:cNvPicPr>
          <p:nvPr/>
        </p:nvPicPr>
        <p:blipFill>
          <a:blip r:embed="rId2"/>
          <a:stretch>
            <a:fillRect/>
          </a:stretch>
        </p:blipFill>
        <p:spPr>
          <a:xfrm>
            <a:off x="617220" y="2354580"/>
            <a:ext cx="320040" cy="320040"/>
          </a:xfrm>
          <a:prstGeom prst="rect">
            <a:avLst/>
          </a:prstGeom>
        </p:spPr>
      </p:pic>
      <p:sp>
        <p:nvSpPr>
          <p:cNvPr id="9" name="Text 5"/>
          <p:cNvSpPr txBox="1"/>
          <p:nvPr/>
        </p:nvSpPr>
        <p:spPr>
          <a:xfrm>
            <a:off x="1325880" y="2176272"/>
            <a:ext cx="4206240" cy="320040"/>
          </a:xfrm>
          <a:prstGeom prst="rect">
            <a:avLst/>
          </a:prstGeom>
          <a:noFill/>
          <a:ln/>
        </p:spPr>
        <p:txBody>
          <a:bodyPr wrap="square" lIns="0" tIns="0" rIns="0" bIns="0" rtlCol="0" anchor="ctr"/>
          <a:lstStyle/>
          <a:p>
            <a:pPr indent="0" marL="0">
              <a:buNone/>
            </a:pPr>
            <a:r>
              <a:rPr lang="en-US" sz="1800" b="1" dirty="0">
                <a:solidFill>
                  <a:schemeClr val="bg1"/>
                </a:solidFill>
              </a:rPr>
              <a:t>Agent Memory</a:t>
            </a:r>
            <a:endParaRPr lang="en-US" sz="1800" dirty="0"/>
          </a:p>
        </p:txBody>
      </p:sp>
      <p:sp>
        <p:nvSpPr>
          <p:cNvPr id="10" name="Text 6"/>
          <p:cNvSpPr txBox="1"/>
          <p:nvPr/>
        </p:nvSpPr>
        <p:spPr>
          <a:xfrm>
            <a:off x="1325880" y="2496312"/>
            <a:ext cx="4572000" cy="548640"/>
          </a:xfrm>
          <a:prstGeom prst="rect">
            <a:avLst/>
          </a:prstGeom>
          <a:noFill/>
          <a:ln/>
        </p:spPr>
        <p:txBody>
          <a:bodyPr wrap="square" lIns="0" tIns="0" rIns="0" bIns="0" rtlCol="0" anchor="t"/>
          <a:lstStyle/>
          <a:p>
            <a:pPr indent="0" marL="0">
              <a:buNone/>
            </a:pPr>
            <a:r>
              <a:rPr lang="en-US" sz="1300" dirty="0">
                <a:solidFill>
                  <a:schemeClr val="bg2"/>
                </a:solidFill>
              </a:rPr>
              <a:t>Remember each marketer's segments, past campaigns and preferences between sessions</a:t>
            </a:r>
            <a:endParaRPr lang="en-US" sz="1300" dirty="0"/>
          </a:p>
        </p:txBody>
      </p:sp>
      <p:sp>
        <p:nvSpPr>
          <p:cNvPr id="11" name="Real exports circle"/>
          <p:cNvSpPr/>
          <p:nvPr/>
        </p:nvSpPr>
        <p:spPr>
          <a:xfrm>
            <a:off x="457200" y="3154680"/>
            <a:ext cx="640080" cy="640080"/>
          </a:xfrm>
          <a:prstGeom prst="ellipse">
            <a:avLst/>
          </a:prstGeom>
          <a:solidFill>
            <a:schemeClr val="accent3"/>
          </a:solidFill>
          <a:ln w="12700">
            <a:solidFill>
              <a:schemeClr val="accent3"/>
            </a:solidFill>
            <a:prstDash val="solid"/>
          </a:ln>
        </p:spPr>
      </p:sp>
      <p:pic>
        <p:nvPicPr>
          <p:cNvPr id="12" name="Real exports icon" descr="preencoded.png">    </p:cNvPr>
          <p:cNvPicPr>
            <a:picLocks noChangeAspect="1"/>
          </p:cNvPicPr>
          <p:nvPr/>
        </p:nvPicPr>
        <p:blipFill>
          <a:blip r:embed="rId3"/>
          <a:stretch>
            <a:fillRect/>
          </a:stretch>
        </p:blipFill>
        <p:spPr>
          <a:xfrm>
            <a:off x="617220" y="3314700"/>
            <a:ext cx="320040" cy="320040"/>
          </a:xfrm>
          <a:prstGeom prst="rect">
            <a:avLst/>
          </a:prstGeom>
        </p:spPr>
      </p:pic>
      <p:sp>
        <p:nvSpPr>
          <p:cNvPr id="13" name="Text 8"/>
          <p:cNvSpPr txBox="1"/>
          <p:nvPr/>
        </p:nvSpPr>
        <p:spPr>
          <a:xfrm>
            <a:off x="1325880" y="3136392"/>
            <a:ext cx="4206240" cy="320040"/>
          </a:xfrm>
          <a:prstGeom prst="rect">
            <a:avLst/>
          </a:prstGeom>
          <a:noFill/>
          <a:ln/>
        </p:spPr>
        <p:txBody>
          <a:bodyPr wrap="square" lIns="0" tIns="0" rIns="0" bIns="0" rtlCol="0" anchor="ctr"/>
          <a:lstStyle/>
          <a:p>
            <a:pPr indent="0" marL="0">
              <a:buNone/>
            </a:pPr>
            <a:r>
              <a:rPr lang="en-US" sz="1800" b="1" dirty="0">
                <a:solidFill>
                  <a:schemeClr val="bg1"/>
                </a:solidFill>
              </a:rPr>
              <a:t>Real exports</a:t>
            </a:r>
            <a:endParaRPr lang="en-US" sz="1800" dirty="0"/>
          </a:p>
        </p:txBody>
      </p:sp>
      <p:sp>
        <p:nvSpPr>
          <p:cNvPr id="14" name="Text 9"/>
          <p:cNvSpPr txBox="1"/>
          <p:nvPr/>
        </p:nvSpPr>
        <p:spPr>
          <a:xfrm>
            <a:off x="1325880" y="3456432"/>
            <a:ext cx="4572000" cy="548640"/>
          </a:xfrm>
          <a:prstGeom prst="rect">
            <a:avLst/>
          </a:prstGeom>
          <a:noFill/>
          <a:ln/>
        </p:spPr>
        <p:txBody>
          <a:bodyPr wrap="square" lIns="0" tIns="0" rIns="0" bIns="0" rtlCol="0" anchor="t"/>
          <a:lstStyle/>
          <a:p>
            <a:pPr indent="0" marL="0">
              <a:buNone/>
            </a:pPr>
            <a:r>
              <a:rPr lang="en-US" sz="1300" dirty="0">
                <a:solidFill>
                  <a:schemeClr val="bg2"/>
                </a:solidFill>
              </a:rPr>
              <a:t>Swap the synthetic CSVs for real CRM, ticketing and email exports. The model stays the same</a:t>
            </a:r>
            <a:endParaRPr lang="en-US" sz="1300" dirty="0"/>
          </a:p>
        </p:txBody>
      </p:sp>
      <p:sp>
        <p:nvSpPr>
          <p:cNvPr id="15" name="tagline card"/>
          <p:cNvSpPr/>
          <p:nvPr/>
        </p:nvSpPr>
        <p:spPr>
          <a:xfrm>
            <a:off x="6263640" y="1234440"/>
            <a:ext cx="2423160" cy="2240280"/>
          </a:xfrm>
          <a:prstGeom prst="roundRect">
            <a:avLst>
              <a:gd name="adj" fmla="val 4898"/>
            </a:avLst>
          </a:prstGeom>
          <a:solidFill>
            <a:schemeClr val="tx2"/>
          </a:solidFill>
          <a:ln w="12700">
            <a:solidFill>
              <a:schemeClr val="tx2"/>
            </a:solidFill>
            <a:prstDash val="solid"/>
          </a:ln>
        </p:spPr>
      </p:sp>
      <p:sp>
        <p:nvSpPr>
          <p:cNvPr id="16" name="Text 11"/>
          <p:cNvSpPr txBox="1"/>
          <p:nvPr/>
        </p:nvSpPr>
        <p:spPr>
          <a:xfrm>
            <a:off x="6492240" y="1554480"/>
            <a:ext cx="2011680" cy="822960"/>
          </a:xfrm>
          <a:prstGeom prst="rect">
            <a:avLst/>
          </a:prstGeom>
          <a:noFill/>
          <a:ln/>
        </p:spPr>
        <p:txBody>
          <a:bodyPr wrap="square" lIns="0" tIns="0" rIns="0" bIns="0" rtlCol="0" anchor="t"/>
          <a:lstStyle/>
          <a:p>
            <a:pPr indent="0" marL="0">
              <a:buNone/>
            </a:pPr>
            <a:r>
              <a:rPr lang="en-US" sz="2000" dirty="0">
                <a:solidFill>
                  <a:schemeClr val="bg2"/>
                </a:solidFill>
              </a:rPr>
              <a:t>The data is synthetic.</a:t>
            </a:r>
            <a:endParaRPr lang="en-US" sz="2000" dirty="0"/>
          </a:p>
        </p:txBody>
      </p:sp>
      <p:sp>
        <p:nvSpPr>
          <p:cNvPr id="17" name="Text 12"/>
          <p:cNvSpPr txBox="1"/>
          <p:nvPr/>
        </p:nvSpPr>
        <p:spPr>
          <a:xfrm>
            <a:off x="6492240" y="2377440"/>
            <a:ext cx="2011680" cy="868680"/>
          </a:xfrm>
          <a:prstGeom prst="rect">
            <a:avLst/>
          </a:prstGeom>
          <a:noFill/>
          <a:ln/>
        </p:spPr>
        <p:txBody>
          <a:bodyPr wrap="square" lIns="0" tIns="0" rIns="0" bIns="0" rtlCol="0" anchor="t"/>
          <a:lstStyle/>
          <a:p>
            <a:pPr indent="0" marL="0">
              <a:buNone/>
            </a:pPr>
            <a:r>
              <a:rPr lang="en-US" sz="2200" b="1" dirty="0">
                <a:solidFill>
                  <a:schemeClr val="accent1"/>
                </a:solidFill>
              </a:rPr>
              <a:t>The questions are real.</a:t>
            </a:r>
            <a:endParaRPr lang="en-US" sz="2200" dirty="0"/>
          </a:p>
        </p:txBody>
      </p:sp>
      <p:sp>
        <p:nvSpPr>
          <p:cNvPr id="18" name="Text 13"/>
          <p:cNvSpPr txBox="1"/>
          <p:nvPr/>
        </p:nvSpPr>
        <p:spPr>
          <a:xfrm>
            <a:off x="457200" y="4160520"/>
            <a:ext cx="3657600" cy="411480"/>
          </a:xfrm>
          <a:prstGeom prst="rect">
            <a:avLst/>
          </a:prstGeom>
          <a:noFill/>
          <a:ln/>
        </p:spPr>
        <p:txBody>
          <a:bodyPr wrap="square" lIns="0" tIns="0" rIns="0" bIns="0" rtlCol="0" anchor="ctr"/>
          <a:lstStyle/>
          <a:p>
            <a:pPr indent="0" marL="0">
              <a:buNone/>
            </a:pPr>
            <a:r>
              <a:rPr lang="en-US" sz="1800" b="1" dirty="0">
                <a:solidFill>
                  <a:schemeClr val="accent2"/>
                </a:solidFill>
              </a:rPr>
              <a:t>Thank you</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Fan Journey Stage">
  <a:themeElements>
    <a:clrScheme name="Fan Journey Stage">
      <a:dk1>
        <a:srgbClr val="15111F"/>
      </a:dk1>
      <a:lt1>
        <a:srgbClr val="FFFFFF"/>
      </a:lt1>
      <a:dk2>
        <a:srgbClr val="231C33"/>
      </a:dk2>
      <a:lt2>
        <a:srgbClr val="B3ACC7"/>
      </a:lt2>
      <a:accent1>
        <a:srgbClr val="FF3D7F"/>
      </a:accent1>
      <a:accent2>
        <a:srgbClr val="2EE6C9"/>
      </a:accent2>
      <a:accent3>
        <a:srgbClr val="FFB547"/>
      </a:accent3>
      <a:accent4>
        <a:srgbClr val="8B7CFF"/>
      </a:accent4>
      <a:accent5>
        <a:srgbClr val="3A3052"/>
      </a:accent5>
      <a:accent6>
        <a:srgbClr val="6E6688"/>
      </a:accent6>
      <a:hlink>
        <a:srgbClr val="2EE6C9"/>
      </a:hlink>
      <a:folHlink>
        <a:srgbClr val="8B7CFF"/>
      </a:folHlink>
    </a:clrScheme>
    <a:fontScheme name="Fan Journey Stag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Fan Journey Graph</dc:title>
  <dc:subject>PptxGenJS Presentation</dc:subject>
  <dc:creator>Murtaza Jabalpurwala</dc:creator>
  <cp:lastModifiedBy>Murtaza Jabalpurwala</cp:lastModifiedBy>
  <cp:revision>1</cp:revision>
  <dcterms:created xsi:type="dcterms:W3CDTF">2026-10-23T17:37:02Z</dcterms:created>
  <dcterms:modified xsi:type="dcterms:W3CDTF">2026-10-23T17:37:02Z</dcterms:modified>
</cp:coreProperties>
</file>