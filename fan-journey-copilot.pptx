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cfd5a8-144f-3888-0dcf-1229e28d5e81}">
          <p14:sldIdLst>
            <p14:sldId id="256"/>
          </p14:sldIdLst>
        </p14:section>
        <p14:section name="Problem" id="{3ba6d58b-ffe5-d1b6-762c-602ad33949fd}">
          <p14:sldIdLst>
            <p14:sldId id="257"/>
          </p14:sldIdLst>
        </p14:section>
        <p14:section name="Architecture" id="{57e3187d-f703-2525-00cd-1f8f32d38258}">
          <p14:sldIdLst>
            <p14:sldId id="258"/>
            <p14:sldId id="259"/>
          </p14:sldIdLst>
        </p14:section>
        <p14:section name="Intelligence" id="{15c91d18-6bcd-ffd8-28a1-7b92775f1960}">
          <p14:sldIdLst>
            <p14:sldId id="260"/>
          </p14:sldIdLst>
        </p14:section>
        <p14:section name="Results" id="{9259b1db-7e3a-be7f-0f68-c68d54b583f6}">
          <p14:sldIdLst>
            <p14:sldId id="261"/>
            <p14:sldId id="262"/>
          </p14:sldIdLst>
        </p14:section>
        <p14:section name="Next" id="{b2fa182a-e19a-cefa-4f01-15a211ba16d7}">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B3ACC7"/>
                </a:solidFill>
                <a:latin typeface="+mn-lt"/>
              </a:defRPr>
            </a:pPr>
            <a:r>
              <a:rPr sz="1200" b="0" i="0" u="none" strike="noStrike">
                <a:solidFill>
                  <a:srgbClr val="B3ACC7"/>
                </a:solidFill>
                <a:latin typeface="+mn-lt"/>
              </a:rPr>
              <a:t>Fans per segment, 10 largest of 18</a:t>
            </a:r>
          </a:p>
        </c:rich>
      </c:tx>
      <c:layout/>
      <c:overlay val="0"/>
    </c:title>
    <c:autoTitleDeleted val="0"/>
    <c:plotArea>
      <c:layout/>
      <c:barChart>
        <c:barDir val="bar"/>
        <c:grouping val="clustered"/>
        <c:varyColors val="0"/>
        <c:ser>
          <c:idx val="0"/>
          <c:order val="0"/>
          <c:tx>
            <c:strRef>
              <c:f>Sheet1!$B$1</c:f>
              <c:strCache>
                <c:ptCount val="1"/>
                <c:pt idx="0">
                  <c:v>Fans</c:v>
                </c:pt>
              </c:strCache>
            </c:strRef>
          </c:tx>
          <c:spPr>
            <a:solidFill>
              <a:srgbClr val="2EE6C9"/>
            </a:solidFill>
            <a:effectLst/>
          </c:spPr>
          <c:invertIfNegative val="0"/>
          <c:dLbls>
            <c:numFmt formatCode="#,##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Sheet1!$A$2:$A$11</c:f>
              <c:multiLvlStrCache>
                <c:ptCount val="10"/>
                <c:lvl>
                  <c:pt idx="0">
                    <c:v>Munich Pop &amp; R&amp;B Big Spenders</c:v>
                  </c:pt>
                  <c:pt idx="1">
                    <c:v>House &amp; Techno Clubbers</c:v>
                  </c:pt>
                  <c:pt idx="2">
                    <c:v>Deutschrap Followers (rarely buy)</c:v>
                  </c:pt>
                  <c:pt idx="3">
                    <c:v>Isarwelle Rap Crowd</c:v>
                  </c:pt>
                  <c:pt idx="4">
                    <c:v>Pop Concert-Only</c:v>
                  </c:pt>
                  <c:pt idx="5">
                    <c:v>Lapsing R&amp;B / Hip-Hop (Berlin)</c:v>
                  </c:pt>
                  <c:pt idx="6">
                    <c:v>Rap &amp; Festival Hoppers</c:v>
                  </c:pt>
                  <c:pt idx="7">
                    <c:v>Metal Heads</c:v>
                  </c:pt>
                  <c:pt idx="8">
                    <c:v>Indie &amp; Punk Crowd</c:v>
                  </c:pt>
                  <c:pt idx="9">
                    <c:v>Pop Superfans</c:v>
                  </c:pt>
                </c:lvl>
              </c:multiLvlStrCache>
            </c:multiLvlStrRef>
          </c:cat>
          <c:val>
            <c:numRef>
              <c:f>Sheet1!$B$2:$B$11</c:f>
              <c:numCache>
                <c:formatCode>General</c:formatCode>
                <c:ptCount val="10"/>
                <c:pt idx="0">
                  <c:v>132</c:v>
                </c:pt>
                <c:pt idx="1">
                  <c:v>145</c:v>
                </c:pt>
                <c:pt idx="2">
                  <c:v>176</c:v>
                </c:pt>
                <c:pt idx="3">
                  <c:v>191</c:v>
                </c:pt>
                <c:pt idx="4">
                  <c:v>207</c:v>
                </c:pt>
                <c:pt idx="5">
                  <c:v>219</c:v>
                </c:pt>
                <c:pt idx="6">
                  <c:v>220</c:v>
                </c:pt>
                <c:pt idx="7">
                  <c:v>227</c:v>
                </c:pt>
                <c:pt idx="8">
                  <c:v>280</c:v>
                </c:pt>
                <c:pt idx="9">
                  <c:v>421</c:v>
                </c:pt>
              </c:numCache>
            </c:numRef>
          </c:val>
        </c:ser>
        <c:dLbls>
          <c:numFmt formatCode="#,##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B3ACC7"/>
                </a:solidFill>
                <a:latin typeface="+mn-lt"/>
              </a:defRPr>
            </a:pPr>
            <a:endParaRPr lang="en-US"/>
          </a:p>
        </c:txPr>
        <c:crossAx val="2094734552"/>
        <c:crosses val="autoZero"/>
        <c:auto val="1"/>
        <c:lblAlgn val="ctr"/>
        <c:noMultiLvlLbl val="1"/>
      </c:catAx>
      <c:valAx>
        <c:axId val="2094734552"/>
        <c:scaling>
          <c:orientation val="minMax"/>
          <c:max val="5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Hi, I'm Murtaza. I built the Fan Journey Copilot: a knowledge graph of a promoter's fans, with graph analytics on top, that marketers can question in plain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[0:10–0:30] What a promoter knows about a fan sits in four places: ticketing, email, the event catalogue and a preference centre most fans never fill in. So answering "who should we email about this show?" means exports, spreadsheet joins and broad hand-built segments. That tires out the audience and misses good prospects.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Here's the architecture. Locally, five Python scripts generate the data, load it, run the intelligence, run the demo queries and draw the graph. They all go through mcp-remote to the hosted Aura MCP server, the same server Claude Code uses as its agent. Behind it, AuraDB holds the graph, and a temporary Aura Graph Analytics session does the heavy GDS work. So there's one front door, with get-schema, read-cypher and write-cypher, and no driver or password in the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[1:00–1:20] The source model joins fans, orders, events, festivals, artists, genres and campaigns. Order is a node because it has its own data. On top, the graph derives three relationships: SIMILAR_TASTE between fans, IN_SEGMENT to one of 18 segments, and LIKELY_TO_BUY from a fan to an upcoming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[1:20–1:50] The intelligence runs in two steps. First, an Aura Graph Analytics session projects a taste graph: each fan linked to the headliners and festivals they bought and the artists they follow. Node Similarity finds each fan's ten closest fans; Louvain clusters them into 18 segments with modularity 0.73, which is strongly separated. The agent then names each segment and suggests an action. Second, plain Cypher scores every upcoming show with seven readable signals and writes the top 150 fans per show, each with its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[1:50–2:15] Here are the segments, found without writing a single rule. Pop Superfans are the most valuable: about 1,500 euros per fan, so give them presales and VIP upgrades. Lapsing R&amp;B and Hip-Hop in Berlin has the highest churn, 43 percent haven't bought in a year, so that's a win-back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[2:15–2:45] And this is the copilot. I ask Claude Code: who should we target for Nova Kaiser in Berlin, and why? It makes one read-cypher call over the predictions, keeps only fans who opted in, and comes back with a ranked list. Ben scores 88: two fans with similar taste already bought, he follows the artist, likes Pop and lives in Berlin. Every one of the 5,250 predictions carries reasons like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[2:45–3:00] Next: Agent Memory so the copilot remembers what we already targeted, backtesting to learn the weights, and real exports. And three bits of feedback: Claude Code reads .mcp.json, MCP times out at 40 seconds so long jobs need polling, and dates come back empty.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51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576072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548640" y="3017520"/>
            <a:ext cx="548640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r>
              <a:rPr lang="en-US" sz="1800" dirty="0">
                <a:solidFill>
                  <a:schemeClr val="bg2"/>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Dark">
    <p:bg>
      <p:bgPr>
        <a:solidFill>
          <a:srgbClr val="151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r>
              <a:rPr lang="en-US" sz="3000" b="1" dirty="0">
                <a:solidFill>
                  <a:schemeClr val="bg1"/>
                </a:solidFill>
              </a:rPr>
              <a:t>Title</a:t>
            </a: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bg2"/>
                </a:solidFill>
              </a:rPr>
              <a:t>Fan Journey Copilot  ·  Neo4j Mini Agentic Hack</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rt Dark">
    <p:bg>
      <p:bgPr>
        <a:solidFill>
          <a:srgbClr val="1511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r>
              <a:rPr lang="en-US" sz="3000" b="1" dirty="0">
                <a:solidFill>
                  <a:schemeClr val="bg1"/>
                </a:solidFill>
              </a:rPr>
              <a:t>Title</a:t>
            </a:r>
            <a:endParaRPr lang="en-US" sz="3000" dirty="0"/>
          </a:p>
        </p:txBody>
      </p:sp>
      <p:sp>
        <p:nvSpPr>
          <p:cNvPr id="3" name="Text 0"/>
          <p:cNvSpPr/>
          <p:nvPr>
            <p:ph idx="101" type="chart" hasCustomPrompt="1"/>
          </p:nvPr>
        </p:nvSpPr>
        <p:spPr>
          <a:xfrm>
            <a:off x="457200" y="1188720"/>
            <a:ext cx="4937760" cy="3429000"/>
          </a:xfrm>
          <a:prstGeom prst="rect">
            <a:avLst/>
          </a:prstGeom>
          <a:noFill/>
          <a:ln/>
        </p:spPr>
        <p:txBody>
          <a:bodyPr wrap="square" rtlCol="0"/>
          <a:lstStyle>
            <a:lvl1pPr indent="0" marL="0">
              <a:buNone/>
              <a:defRPr lang="en-US" dirty="0">
                <a:solidFill>
                  <a:schemeClr val="bg1"/>
                </a:solidFill>
              </a:defRPr>
            </a:lvl1pPr>
          </a:lstStyle>
          <a:p>
            <a:pPr indent="0" marL="0">
              <a:buNone/>
            </a:pPr>
            <a:endParaRPr lang="en-US" dirty="0"/>
          </a:p>
        </p:txBody>
      </p:sp>
      <p:sp>
        <p:nvSpPr>
          <p:cNvPr id="4"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bg2"/>
                </a:solidFill>
              </a:rPr>
              <a:t>Fan Journey Copilot  ·  Neo4j Mini Agentic Hack</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5760720" cy="1554480"/>
          </a:xfrm>
          <a:prstGeom prst="rect">
            <a:avLst/>
          </a:prstGeom>
          <a:noFill/>
          <a:ln/>
        </p:spPr>
        <p:txBody>
          <a:bodyPr wrap="square" lIns="0" tIns="0" rIns="0" bIns="0" rtlCol="0" anchor="b"/>
          <a:lstStyle/>
          <a:p>
            <a:pPr algn="l" indent="0" marL="0">
              <a:buNone/>
            </a:pPr>
            <a:r>
              <a:rPr lang="en-US" sz="4400" b="1" dirty="0">
                <a:solidFill>
                  <a:schemeClr val="bg1"/>
                </a:solidFill>
              </a:rPr>
              <a:t>Fan Journey Copilot</a:t>
            </a:r>
            <a:endParaRPr lang="en-US" sz="4400" dirty="0"/>
          </a:p>
        </p:txBody>
      </p:sp>
      <p:sp>
        <p:nvSpPr>
          <p:cNvPr id="3" name="Text 0"/>
          <p:cNvSpPr/>
          <p:nvPr>
            <p:ph idx="101" type="body" hasCustomPrompt="1"/>
          </p:nvPr>
        </p:nvSpPr>
        <p:spPr>
          <a:xfrm>
            <a:off x="548640" y="3017520"/>
            <a:ext cx="5486400" cy="914400"/>
          </a:xfrm>
          <a:prstGeom prst="rect">
            <a:avLst/>
          </a:prstGeom>
          <a:noFill/>
          <a:ln/>
        </p:spPr>
        <p:txBody>
          <a:bodyPr wrap="square" lIns="0" tIns="0" rIns="0" bIns="0" rtlCol="0" anchor="t"/>
          <a:lstStyle/>
          <a:p>
            <a:pPr algn="l" indent="0" marL="0">
              <a:buNone/>
            </a:pPr>
            <a:r>
              <a:rPr lang="en-US" sz="1800" dirty="0">
                <a:solidFill>
                  <a:schemeClr val="bg2"/>
                </a:solidFill>
              </a:rPr>
              <a:t>Ask a fan knowledge graph who to target for a show, and why. Built on Neo4j Aura, Aura Graph Analytics and Aura MCP</a:t>
            </a:r>
            <a:endParaRPr lang="en-US" sz="1800" dirty="0"/>
          </a:p>
        </p:txBody>
      </p:sp>
      <p:sp>
        <p:nvSpPr>
          <p:cNvPr id="4" name="motif edge 0"/>
          <p:cNvSpPr/>
          <p:nvPr/>
        </p:nvSpPr>
        <p:spPr>
          <a:xfrm>
            <a:off x="7360920" y="1325880"/>
            <a:ext cx="868680" cy="1051560"/>
          </a:xfrm>
          <a:prstGeom prst="line">
            <a:avLst/>
          </a:prstGeom>
          <a:noFill/>
          <a:ln w="25400">
            <a:solidFill>
              <a:schemeClr val="accent5"/>
            </a:solidFill>
            <a:prstDash val="solid"/>
          </a:ln>
        </p:spPr>
      </p:sp>
      <p:sp>
        <p:nvSpPr>
          <p:cNvPr id="5" name="motif edge 1"/>
          <p:cNvSpPr/>
          <p:nvPr/>
        </p:nvSpPr>
        <p:spPr>
          <a:xfrm flipV="1">
            <a:off x="6903720" y="1325880"/>
            <a:ext cx="457200" cy="1554480"/>
          </a:xfrm>
          <a:prstGeom prst="line">
            <a:avLst/>
          </a:prstGeom>
          <a:noFill/>
          <a:ln w="25400">
            <a:solidFill>
              <a:schemeClr val="accent5"/>
            </a:solidFill>
            <a:prstDash val="solid"/>
          </a:ln>
        </p:spPr>
      </p:sp>
      <p:sp>
        <p:nvSpPr>
          <p:cNvPr id="6" name="motif edge 2"/>
          <p:cNvSpPr/>
          <p:nvPr/>
        </p:nvSpPr>
        <p:spPr>
          <a:xfrm flipV="1">
            <a:off x="7932420" y="2377440"/>
            <a:ext cx="297180" cy="1440180"/>
          </a:xfrm>
          <a:prstGeom prst="line">
            <a:avLst/>
          </a:prstGeom>
          <a:noFill/>
          <a:ln w="25400">
            <a:solidFill>
              <a:schemeClr val="accent5"/>
            </a:solidFill>
            <a:prstDash val="solid"/>
          </a:ln>
        </p:spPr>
      </p:sp>
      <p:sp>
        <p:nvSpPr>
          <p:cNvPr id="7" name="motif edge 3"/>
          <p:cNvSpPr/>
          <p:nvPr/>
        </p:nvSpPr>
        <p:spPr>
          <a:xfrm>
            <a:off x="6903720" y="2880360"/>
            <a:ext cx="1028700" cy="937260"/>
          </a:xfrm>
          <a:prstGeom prst="line">
            <a:avLst/>
          </a:prstGeom>
          <a:noFill/>
          <a:ln w="25400">
            <a:solidFill>
              <a:schemeClr val="accent5"/>
            </a:solidFill>
            <a:prstDash val="solid"/>
          </a:ln>
        </p:spPr>
      </p:sp>
      <p:sp>
        <p:nvSpPr>
          <p:cNvPr id="8" name="motif edge 4"/>
          <p:cNvSpPr/>
          <p:nvPr/>
        </p:nvSpPr>
        <p:spPr>
          <a:xfrm flipV="1">
            <a:off x="7360920" y="1257300"/>
            <a:ext cx="1120140" cy="68580"/>
          </a:xfrm>
          <a:prstGeom prst="line">
            <a:avLst/>
          </a:prstGeom>
          <a:noFill/>
          <a:ln w="25400">
            <a:solidFill>
              <a:schemeClr val="accent5"/>
            </a:solidFill>
            <a:prstDash val="solid"/>
          </a:ln>
        </p:spPr>
      </p:sp>
      <p:sp>
        <p:nvSpPr>
          <p:cNvPr id="9" name="motif edge 5"/>
          <p:cNvSpPr/>
          <p:nvPr/>
        </p:nvSpPr>
        <p:spPr>
          <a:xfrm flipV="1">
            <a:off x="6446520" y="2880360"/>
            <a:ext cx="457200" cy="1188720"/>
          </a:xfrm>
          <a:prstGeom prst="line">
            <a:avLst/>
          </a:prstGeom>
          <a:noFill/>
          <a:ln w="25400">
            <a:solidFill>
              <a:schemeClr val="accent5"/>
            </a:solidFill>
            <a:prstDash val="solid"/>
          </a:ln>
        </p:spPr>
      </p:sp>
      <p:sp>
        <p:nvSpPr>
          <p:cNvPr id="10" name="motif edge 6"/>
          <p:cNvSpPr/>
          <p:nvPr/>
        </p:nvSpPr>
        <p:spPr>
          <a:xfrm flipV="1">
            <a:off x="8229600" y="1257300"/>
            <a:ext cx="251460" cy="1120140"/>
          </a:xfrm>
          <a:prstGeom prst="line">
            <a:avLst/>
          </a:prstGeom>
          <a:noFill/>
          <a:ln w="25400">
            <a:solidFill>
              <a:schemeClr val="accent5"/>
            </a:solidFill>
            <a:prstDash val="solid"/>
          </a:ln>
        </p:spPr>
      </p:sp>
      <p:sp>
        <p:nvSpPr>
          <p:cNvPr id="11" name="motif node 0"/>
          <p:cNvSpPr/>
          <p:nvPr/>
        </p:nvSpPr>
        <p:spPr>
          <a:xfrm>
            <a:off x="6949440" y="914400"/>
            <a:ext cx="822960" cy="822960"/>
          </a:xfrm>
          <a:prstGeom prst="ellipse">
            <a:avLst/>
          </a:prstGeom>
          <a:solidFill>
            <a:schemeClr val="accent1"/>
          </a:solidFill>
          <a:ln w="12700">
            <a:solidFill>
              <a:schemeClr val="accent1"/>
            </a:solidFill>
            <a:prstDash val="solid"/>
          </a:ln>
        </p:spPr>
      </p:sp>
      <p:sp>
        <p:nvSpPr>
          <p:cNvPr id="12" name="motif node 1"/>
          <p:cNvSpPr/>
          <p:nvPr/>
        </p:nvSpPr>
        <p:spPr>
          <a:xfrm>
            <a:off x="7955280" y="2103120"/>
            <a:ext cx="548640" cy="548640"/>
          </a:xfrm>
          <a:prstGeom prst="ellipse">
            <a:avLst/>
          </a:prstGeom>
          <a:solidFill>
            <a:schemeClr val="accent2"/>
          </a:solidFill>
          <a:ln w="12700">
            <a:solidFill>
              <a:schemeClr val="accent2"/>
            </a:solidFill>
            <a:prstDash val="solid"/>
          </a:ln>
        </p:spPr>
      </p:sp>
      <p:sp>
        <p:nvSpPr>
          <p:cNvPr id="13" name="motif node 2"/>
          <p:cNvSpPr/>
          <p:nvPr/>
        </p:nvSpPr>
        <p:spPr>
          <a:xfrm>
            <a:off x="6675120" y="2651760"/>
            <a:ext cx="457200" cy="457200"/>
          </a:xfrm>
          <a:prstGeom prst="ellipse">
            <a:avLst/>
          </a:prstGeom>
          <a:solidFill>
            <a:schemeClr val="accent3"/>
          </a:solidFill>
          <a:ln w="12700">
            <a:solidFill>
              <a:schemeClr val="accent3"/>
            </a:solidFill>
            <a:prstDash val="solid"/>
          </a:ln>
        </p:spPr>
      </p:sp>
      <p:sp>
        <p:nvSpPr>
          <p:cNvPr id="14" name="motif node 3"/>
          <p:cNvSpPr/>
          <p:nvPr/>
        </p:nvSpPr>
        <p:spPr>
          <a:xfrm>
            <a:off x="7589520" y="3474720"/>
            <a:ext cx="685800" cy="685800"/>
          </a:xfrm>
          <a:prstGeom prst="ellipse">
            <a:avLst/>
          </a:prstGeom>
          <a:solidFill>
            <a:schemeClr val="accent4"/>
          </a:solidFill>
          <a:ln w="12700">
            <a:solidFill>
              <a:schemeClr val="accent4"/>
            </a:solidFill>
            <a:prstDash val="solid"/>
          </a:ln>
        </p:spPr>
      </p:sp>
      <p:sp>
        <p:nvSpPr>
          <p:cNvPr id="15" name="motif node 4"/>
          <p:cNvSpPr/>
          <p:nvPr/>
        </p:nvSpPr>
        <p:spPr>
          <a:xfrm>
            <a:off x="8321040" y="1097280"/>
            <a:ext cx="320040" cy="320040"/>
          </a:xfrm>
          <a:prstGeom prst="ellipse">
            <a:avLst/>
          </a:prstGeom>
          <a:solidFill>
            <a:schemeClr val="accent2"/>
          </a:solidFill>
          <a:ln w="12700">
            <a:solidFill>
              <a:schemeClr val="accent2"/>
            </a:solidFill>
            <a:prstDash val="solid"/>
          </a:ln>
        </p:spPr>
      </p:sp>
      <p:sp>
        <p:nvSpPr>
          <p:cNvPr id="16" name="motif node 5"/>
          <p:cNvSpPr/>
          <p:nvPr/>
        </p:nvSpPr>
        <p:spPr>
          <a:xfrm>
            <a:off x="6309360" y="3931920"/>
            <a:ext cx="274320" cy="274320"/>
          </a:xfrm>
          <a:prstGeom prst="ellipse">
            <a:avLst/>
          </a:prstGeom>
          <a:solidFill>
            <a:schemeClr val="accent1"/>
          </a:solidFill>
          <a:ln w="12700">
            <a:solidFill>
              <a:schemeClr val="accent1"/>
            </a:solidFill>
            <a:prstDash val="solid"/>
          </a:ln>
        </p:spPr>
      </p:sp>
      <p:sp>
        <p:nvSpPr>
          <p:cNvPr id="17" name="Text 15"/>
          <p:cNvSpPr txBox="1"/>
          <p:nvPr/>
        </p:nvSpPr>
        <p:spPr>
          <a:xfrm>
            <a:off x="548640" y="4343400"/>
            <a:ext cx="5486400" cy="320040"/>
          </a:xfrm>
          <a:prstGeom prst="rect">
            <a:avLst/>
          </a:prstGeom>
          <a:noFill/>
          <a:ln/>
        </p:spPr>
        <p:txBody>
          <a:bodyPr wrap="square" lIns="0" tIns="0" rIns="0" bIns="0" rtlCol="0" anchor="ctr"/>
          <a:lstStyle/>
          <a:p>
            <a:pPr indent="0" marL="0">
              <a:buNone/>
            </a:pPr>
            <a:r>
              <a:rPr lang="en-US" sz="1200" dirty="0">
                <a:solidFill>
                  <a:schemeClr val="bg2"/>
                </a:solidFill>
              </a:rPr>
              <a:t>Murtaza Jabalpurwala  ·  Neo4j Mini Agentic Hack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Fan data is split across four systems</a:t>
            </a:r>
            <a:endParaRPr lang="en-US" sz="3000" dirty="0"/>
          </a:p>
        </p:txBody>
      </p:sp>
      <p:sp>
        <p:nvSpPr>
          <p:cNvPr id="3" name="Ticketing card"/>
          <p:cNvSpPr/>
          <p:nvPr/>
        </p:nvSpPr>
        <p:spPr>
          <a:xfrm>
            <a:off x="457200" y="1234440"/>
            <a:ext cx="1874520" cy="1737360"/>
          </a:xfrm>
          <a:prstGeom prst="roundRect">
            <a:avLst>
              <a:gd name="adj" fmla="val 5263"/>
            </a:avLst>
          </a:prstGeom>
          <a:solidFill>
            <a:schemeClr val="tx2"/>
          </a:solidFill>
          <a:ln w="12700">
            <a:solidFill>
              <a:schemeClr val="tx2"/>
            </a:solidFill>
            <a:prstDash val="solid"/>
          </a:ln>
        </p:spPr>
      </p:sp>
      <p:sp>
        <p:nvSpPr>
          <p:cNvPr id="4" name="Ticketing circle"/>
          <p:cNvSpPr/>
          <p:nvPr/>
        </p:nvSpPr>
        <p:spPr>
          <a:xfrm>
            <a:off x="685800" y="1463040"/>
            <a:ext cx="548640" cy="548640"/>
          </a:xfrm>
          <a:prstGeom prst="ellipse">
            <a:avLst/>
          </a:prstGeom>
          <a:solidFill>
            <a:schemeClr val="accent2"/>
          </a:solidFill>
          <a:ln w="12700">
            <a:solidFill>
              <a:schemeClr val="accent2"/>
            </a:solidFill>
            <a:prstDash val="solid"/>
          </a:ln>
        </p:spPr>
      </p:sp>
      <p:pic>
        <p:nvPicPr>
          <p:cNvPr id="5" name="Ticketing icon" descr="preencoded.png">    </p:cNvPr>
          <p:cNvPicPr>
            <a:picLocks noChangeAspect="1"/>
          </p:cNvPicPr>
          <p:nvPr/>
        </p:nvPicPr>
        <p:blipFill>
          <a:blip r:embed="rId1"/>
          <a:stretch>
            <a:fillRect/>
          </a:stretch>
        </p:blipFill>
        <p:spPr>
          <a:xfrm>
            <a:off x="822960" y="1600200"/>
            <a:ext cx="274320" cy="274320"/>
          </a:xfrm>
          <a:prstGeom prst="rect">
            <a:avLst/>
          </a:prstGeom>
        </p:spPr>
      </p:pic>
      <p:sp>
        <p:nvSpPr>
          <p:cNvPr id="6" name="Text 3"/>
          <p:cNvSpPr txBox="1"/>
          <p:nvPr/>
        </p:nvSpPr>
        <p:spPr>
          <a:xfrm>
            <a:off x="685800" y="2103120"/>
            <a:ext cx="1554480" cy="320040"/>
          </a:xfrm>
          <a:prstGeom prst="rect">
            <a:avLst/>
          </a:prstGeom>
          <a:noFill/>
          <a:ln/>
        </p:spPr>
        <p:txBody>
          <a:bodyPr wrap="square" lIns="0" tIns="0" rIns="0" bIns="0" rtlCol="0" anchor="ctr"/>
          <a:lstStyle/>
          <a:p>
            <a:pPr indent="0" marL="0">
              <a:buNone/>
            </a:pPr>
            <a:r>
              <a:rPr lang="en-US" sz="1800" b="1" dirty="0">
                <a:solidFill>
                  <a:schemeClr val="bg1"/>
                </a:solidFill>
              </a:rPr>
              <a:t>Ticketing</a:t>
            </a:r>
            <a:endParaRPr lang="en-US" sz="1800" dirty="0"/>
          </a:p>
        </p:txBody>
      </p:sp>
      <p:sp>
        <p:nvSpPr>
          <p:cNvPr id="7" name="Text 4"/>
          <p:cNvSpPr txBox="1"/>
          <p:nvPr/>
        </p:nvSpPr>
        <p:spPr>
          <a:xfrm>
            <a:off x="685800" y="2423160"/>
            <a:ext cx="1508760" cy="502920"/>
          </a:xfrm>
          <a:prstGeom prst="rect">
            <a:avLst/>
          </a:prstGeom>
          <a:noFill/>
          <a:ln/>
        </p:spPr>
        <p:txBody>
          <a:bodyPr wrap="square" lIns="0" tIns="0" rIns="0" bIns="0" rtlCol="0" anchor="t"/>
          <a:lstStyle/>
          <a:p>
            <a:pPr indent="0" marL="0">
              <a:buNone/>
            </a:pPr>
            <a:r>
              <a:rPr lang="en-US" sz="1300" dirty="0">
                <a:solidFill>
                  <a:schemeClr val="bg2"/>
                </a:solidFill>
              </a:rPr>
              <a:t>Orders, spend and who showed up</a:t>
            </a:r>
            <a:endParaRPr lang="en-US" sz="1300" dirty="0"/>
          </a:p>
        </p:txBody>
      </p:sp>
      <p:sp>
        <p:nvSpPr>
          <p:cNvPr id="8" name="Email card"/>
          <p:cNvSpPr/>
          <p:nvPr/>
        </p:nvSpPr>
        <p:spPr>
          <a:xfrm>
            <a:off x="2560320" y="1234440"/>
            <a:ext cx="1874520" cy="1737360"/>
          </a:xfrm>
          <a:prstGeom prst="roundRect">
            <a:avLst>
              <a:gd name="adj" fmla="val 5263"/>
            </a:avLst>
          </a:prstGeom>
          <a:solidFill>
            <a:schemeClr val="tx2"/>
          </a:solidFill>
          <a:ln w="12700">
            <a:solidFill>
              <a:schemeClr val="tx2"/>
            </a:solidFill>
            <a:prstDash val="solid"/>
          </a:ln>
        </p:spPr>
      </p:sp>
      <p:sp>
        <p:nvSpPr>
          <p:cNvPr id="9" name="Email circle"/>
          <p:cNvSpPr/>
          <p:nvPr/>
        </p:nvSpPr>
        <p:spPr>
          <a:xfrm>
            <a:off x="2788920" y="1463040"/>
            <a:ext cx="548640" cy="548640"/>
          </a:xfrm>
          <a:prstGeom prst="ellipse">
            <a:avLst/>
          </a:prstGeom>
          <a:solidFill>
            <a:schemeClr val="accent3"/>
          </a:solidFill>
          <a:ln w="12700">
            <a:solidFill>
              <a:schemeClr val="accent3"/>
            </a:solidFill>
            <a:prstDash val="solid"/>
          </a:ln>
        </p:spPr>
      </p:sp>
      <p:pic>
        <p:nvPicPr>
          <p:cNvPr id="10" name="Email icon" descr="preencoded.png">    </p:cNvPr>
          <p:cNvPicPr>
            <a:picLocks noChangeAspect="1"/>
          </p:cNvPicPr>
          <p:nvPr/>
        </p:nvPicPr>
        <p:blipFill>
          <a:blip r:embed="rId2"/>
          <a:stretch>
            <a:fillRect/>
          </a:stretch>
        </p:blipFill>
        <p:spPr>
          <a:xfrm>
            <a:off x="2926080" y="1600200"/>
            <a:ext cx="274320" cy="274320"/>
          </a:xfrm>
          <a:prstGeom prst="rect">
            <a:avLst/>
          </a:prstGeom>
        </p:spPr>
      </p:pic>
      <p:sp>
        <p:nvSpPr>
          <p:cNvPr id="11" name="Text 7"/>
          <p:cNvSpPr txBox="1"/>
          <p:nvPr/>
        </p:nvSpPr>
        <p:spPr>
          <a:xfrm>
            <a:off x="2788920" y="2103120"/>
            <a:ext cx="1554480" cy="320040"/>
          </a:xfrm>
          <a:prstGeom prst="rect">
            <a:avLst/>
          </a:prstGeom>
          <a:noFill/>
          <a:ln/>
        </p:spPr>
        <p:txBody>
          <a:bodyPr wrap="square" lIns="0" tIns="0" rIns="0" bIns="0" rtlCol="0" anchor="ctr"/>
          <a:lstStyle/>
          <a:p>
            <a:pPr indent="0" marL="0">
              <a:buNone/>
            </a:pPr>
            <a:r>
              <a:rPr lang="en-US" sz="1800" b="1" dirty="0">
                <a:solidFill>
                  <a:schemeClr val="bg1"/>
                </a:solidFill>
              </a:rPr>
              <a:t>Email</a:t>
            </a:r>
            <a:endParaRPr lang="en-US" sz="1800" dirty="0"/>
          </a:p>
        </p:txBody>
      </p:sp>
      <p:sp>
        <p:nvSpPr>
          <p:cNvPr id="12" name="Text 8"/>
          <p:cNvSpPr txBox="1"/>
          <p:nvPr/>
        </p:nvSpPr>
        <p:spPr>
          <a:xfrm>
            <a:off x="2788920" y="2423160"/>
            <a:ext cx="1508760" cy="502920"/>
          </a:xfrm>
          <a:prstGeom prst="rect">
            <a:avLst/>
          </a:prstGeom>
          <a:noFill/>
          <a:ln/>
        </p:spPr>
        <p:txBody>
          <a:bodyPr wrap="square" lIns="0" tIns="0" rIns="0" bIns="0" rtlCol="0" anchor="t"/>
          <a:lstStyle/>
          <a:p>
            <a:pPr indent="0" marL="0">
              <a:buNone/>
            </a:pPr>
            <a:r>
              <a:rPr lang="en-US" sz="1300" dirty="0">
                <a:solidFill>
                  <a:schemeClr val="bg2"/>
                </a:solidFill>
              </a:rPr>
              <a:t>Sends, opens and clicks</a:t>
            </a:r>
            <a:endParaRPr lang="en-US" sz="1300" dirty="0"/>
          </a:p>
        </p:txBody>
      </p:sp>
      <p:sp>
        <p:nvSpPr>
          <p:cNvPr id="13" name="Catalogue card"/>
          <p:cNvSpPr/>
          <p:nvPr/>
        </p:nvSpPr>
        <p:spPr>
          <a:xfrm>
            <a:off x="4663440" y="1234440"/>
            <a:ext cx="1874520" cy="1737360"/>
          </a:xfrm>
          <a:prstGeom prst="roundRect">
            <a:avLst>
              <a:gd name="adj" fmla="val 5263"/>
            </a:avLst>
          </a:prstGeom>
          <a:solidFill>
            <a:schemeClr val="tx2"/>
          </a:solidFill>
          <a:ln w="12700">
            <a:solidFill>
              <a:schemeClr val="tx2"/>
            </a:solidFill>
            <a:prstDash val="solid"/>
          </a:ln>
        </p:spPr>
      </p:sp>
      <p:sp>
        <p:nvSpPr>
          <p:cNvPr id="14" name="Catalogue circle"/>
          <p:cNvSpPr/>
          <p:nvPr/>
        </p:nvSpPr>
        <p:spPr>
          <a:xfrm>
            <a:off x="4892040" y="1463040"/>
            <a:ext cx="548640" cy="548640"/>
          </a:xfrm>
          <a:prstGeom prst="ellipse">
            <a:avLst/>
          </a:prstGeom>
          <a:solidFill>
            <a:schemeClr val="accent4"/>
          </a:solidFill>
          <a:ln w="12700">
            <a:solidFill>
              <a:schemeClr val="accent4"/>
            </a:solidFill>
            <a:prstDash val="solid"/>
          </a:ln>
        </p:spPr>
      </p:sp>
      <p:pic>
        <p:nvPicPr>
          <p:cNvPr id="15" name="Catalogue icon" descr="preencoded.png">    </p:cNvPr>
          <p:cNvPicPr>
            <a:picLocks noChangeAspect="1"/>
          </p:cNvPicPr>
          <p:nvPr/>
        </p:nvPicPr>
        <p:blipFill>
          <a:blip r:embed="rId3"/>
          <a:stretch>
            <a:fillRect/>
          </a:stretch>
        </p:blipFill>
        <p:spPr>
          <a:xfrm>
            <a:off x="5029200" y="1600200"/>
            <a:ext cx="274320" cy="274320"/>
          </a:xfrm>
          <a:prstGeom prst="rect">
            <a:avLst/>
          </a:prstGeom>
        </p:spPr>
      </p:pic>
      <p:sp>
        <p:nvSpPr>
          <p:cNvPr id="16" name="Text 11"/>
          <p:cNvSpPr txBox="1"/>
          <p:nvPr/>
        </p:nvSpPr>
        <p:spPr>
          <a:xfrm>
            <a:off x="4892040" y="2103120"/>
            <a:ext cx="1554480" cy="320040"/>
          </a:xfrm>
          <a:prstGeom prst="rect">
            <a:avLst/>
          </a:prstGeom>
          <a:noFill/>
          <a:ln/>
        </p:spPr>
        <p:txBody>
          <a:bodyPr wrap="square" lIns="0" tIns="0" rIns="0" bIns="0" rtlCol="0" anchor="ctr"/>
          <a:lstStyle/>
          <a:p>
            <a:pPr indent="0" marL="0">
              <a:buNone/>
            </a:pPr>
            <a:r>
              <a:rPr lang="en-US" sz="1800" b="1" dirty="0">
                <a:solidFill>
                  <a:schemeClr val="bg1"/>
                </a:solidFill>
              </a:rPr>
              <a:t>Catalogue</a:t>
            </a:r>
            <a:endParaRPr lang="en-US" sz="1800" dirty="0"/>
          </a:p>
        </p:txBody>
      </p:sp>
      <p:sp>
        <p:nvSpPr>
          <p:cNvPr id="17" name="Text 12"/>
          <p:cNvSpPr txBox="1"/>
          <p:nvPr/>
        </p:nvSpPr>
        <p:spPr>
          <a:xfrm>
            <a:off x="4892040" y="2423160"/>
            <a:ext cx="1508760" cy="502920"/>
          </a:xfrm>
          <a:prstGeom prst="rect">
            <a:avLst/>
          </a:prstGeom>
          <a:noFill/>
          <a:ln/>
        </p:spPr>
        <p:txBody>
          <a:bodyPr wrap="square" lIns="0" tIns="0" rIns="0" bIns="0" rtlCol="0" anchor="t"/>
          <a:lstStyle/>
          <a:p>
            <a:pPr indent="0" marL="0">
              <a:buNone/>
            </a:pPr>
            <a:r>
              <a:rPr lang="en-US" sz="1300" dirty="0">
                <a:solidFill>
                  <a:schemeClr val="bg2"/>
                </a:solidFill>
              </a:rPr>
              <a:t>Artists, events, venues, festivals</a:t>
            </a:r>
            <a:endParaRPr lang="en-US" sz="1300" dirty="0"/>
          </a:p>
        </p:txBody>
      </p:sp>
      <p:sp>
        <p:nvSpPr>
          <p:cNvPr id="18" name="Preferences card"/>
          <p:cNvSpPr/>
          <p:nvPr/>
        </p:nvSpPr>
        <p:spPr>
          <a:xfrm>
            <a:off x="6766560" y="1234440"/>
            <a:ext cx="1874520" cy="1737360"/>
          </a:xfrm>
          <a:prstGeom prst="roundRect">
            <a:avLst>
              <a:gd name="adj" fmla="val 5263"/>
            </a:avLst>
          </a:prstGeom>
          <a:solidFill>
            <a:schemeClr val="tx2"/>
          </a:solidFill>
          <a:ln w="12700">
            <a:solidFill>
              <a:schemeClr val="tx2"/>
            </a:solidFill>
            <a:prstDash val="solid"/>
          </a:ln>
        </p:spPr>
      </p:sp>
      <p:sp>
        <p:nvSpPr>
          <p:cNvPr id="19" name="Preferences circle"/>
          <p:cNvSpPr/>
          <p:nvPr/>
        </p:nvSpPr>
        <p:spPr>
          <a:xfrm>
            <a:off x="6995160" y="1463040"/>
            <a:ext cx="548640" cy="548640"/>
          </a:xfrm>
          <a:prstGeom prst="ellipse">
            <a:avLst/>
          </a:prstGeom>
          <a:solidFill>
            <a:schemeClr val="accent1"/>
          </a:solidFill>
          <a:ln w="12700">
            <a:solidFill>
              <a:schemeClr val="accent1"/>
            </a:solidFill>
            <a:prstDash val="solid"/>
          </a:ln>
        </p:spPr>
      </p:sp>
      <p:pic>
        <p:nvPicPr>
          <p:cNvPr id="20" name="Preferences icon" descr="preencoded.png">    </p:cNvPr>
          <p:cNvPicPr>
            <a:picLocks noChangeAspect="1"/>
          </p:cNvPicPr>
          <p:nvPr/>
        </p:nvPicPr>
        <p:blipFill>
          <a:blip r:embed="rId4"/>
          <a:stretch>
            <a:fillRect/>
          </a:stretch>
        </p:blipFill>
        <p:spPr>
          <a:xfrm>
            <a:off x="7132320" y="1600200"/>
            <a:ext cx="274320" cy="274320"/>
          </a:xfrm>
          <a:prstGeom prst="rect">
            <a:avLst/>
          </a:prstGeom>
        </p:spPr>
      </p:pic>
      <p:sp>
        <p:nvSpPr>
          <p:cNvPr id="21" name="Text 15"/>
          <p:cNvSpPr txBox="1"/>
          <p:nvPr/>
        </p:nvSpPr>
        <p:spPr>
          <a:xfrm>
            <a:off x="6995160" y="2103120"/>
            <a:ext cx="1554480" cy="320040"/>
          </a:xfrm>
          <a:prstGeom prst="rect">
            <a:avLst/>
          </a:prstGeom>
          <a:noFill/>
          <a:ln/>
        </p:spPr>
        <p:txBody>
          <a:bodyPr wrap="square" lIns="0" tIns="0" rIns="0" bIns="0" rtlCol="0" anchor="ctr"/>
          <a:lstStyle/>
          <a:p>
            <a:pPr indent="0" marL="0">
              <a:buNone/>
            </a:pPr>
            <a:r>
              <a:rPr lang="en-US" sz="1800" b="1" dirty="0">
                <a:solidFill>
                  <a:schemeClr val="bg1"/>
                </a:solidFill>
              </a:rPr>
              <a:t>Preferences</a:t>
            </a:r>
            <a:endParaRPr lang="en-US" sz="1800" dirty="0"/>
          </a:p>
        </p:txBody>
      </p:sp>
      <p:sp>
        <p:nvSpPr>
          <p:cNvPr id="22" name="Text 16"/>
          <p:cNvSpPr txBox="1"/>
          <p:nvPr/>
        </p:nvSpPr>
        <p:spPr>
          <a:xfrm>
            <a:off x="6995160" y="2423160"/>
            <a:ext cx="1508760" cy="502920"/>
          </a:xfrm>
          <a:prstGeom prst="rect">
            <a:avLst/>
          </a:prstGeom>
          <a:noFill/>
          <a:ln/>
        </p:spPr>
        <p:txBody>
          <a:bodyPr wrap="square" lIns="0" tIns="0" rIns="0" bIns="0" rtlCol="0" anchor="t"/>
          <a:lstStyle/>
          <a:p>
            <a:pPr indent="0" marL="0">
              <a:buNone/>
            </a:pPr>
            <a:r>
              <a:rPr lang="en-US" sz="1300" dirty="0">
                <a:solidFill>
                  <a:schemeClr val="bg2"/>
                </a:solidFill>
              </a:rPr>
              <a:t>Declared interests, mostly left blank</a:t>
            </a:r>
            <a:endParaRPr lang="en-US" sz="1300" dirty="0"/>
          </a:p>
        </p:txBody>
      </p:sp>
      <p:sp>
        <p:nvSpPr>
          <p:cNvPr id="23" name="Text 17"/>
          <p:cNvSpPr txBox="1"/>
          <p:nvPr/>
        </p:nvSpPr>
        <p:spPr>
          <a:xfrm>
            <a:off x="457200" y="3246120"/>
            <a:ext cx="2743200" cy="256032"/>
          </a:xfrm>
          <a:prstGeom prst="rect">
            <a:avLst/>
          </a:prstGeom>
          <a:noFill/>
          <a:ln/>
        </p:spPr>
        <p:txBody>
          <a:bodyPr wrap="square" lIns="0" tIns="0" rIns="0" bIns="0" rtlCol="0" anchor="ctr"/>
          <a:lstStyle/>
          <a:p>
            <a:pPr indent="0" marL="0">
              <a:buNone/>
            </a:pPr>
            <a:r>
              <a:rPr lang="en-US" sz="1000" b="1" spc="100" kern="0" dirty="0">
                <a:solidFill>
                  <a:schemeClr val="accent2"/>
                </a:solidFill>
              </a:rPr>
              <a:t>SO TODAY</a:t>
            </a:r>
            <a:endParaRPr lang="en-US" sz="1000" dirty="0"/>
          </a:p>
        </p:txBody>
      </p:sp>
      <p:sp>
        <p:nvSpPr>
          <p:cNvPr id="24" name="Text 18"/>
          <p:cNvSpPr txBox="1"/>
          <p:nvPr/>
        </p:nvSpPr>
        <p:spPr>
          <a:xfrm>
            <a:off x="457200" y="3566160"/>
            <a:ext cx="2423160" cy="548640"/>
          </a:xfrm>
          <a:prstGeom prst="rect">
            <a:avLst/>
          </a:prstGeom>
          <a:noFill/>
          <a:ln/>
        </p:spPr>
        <p:txBody>
          <a:bodyPr wrap="square" lIns="0" tIns="0" rIns="0" bIns="0" rtlCol="0" anchor="ctr"/>
          <a:lstStyle/>
          <a:p>
            <a:pPr indent="0" marL="0">
              <a:buNone/>
            </a:pPr>
            <a:r>
              <a:rPr lang="en-US" sz="1500" dirty="0">
                <a:solidFill>
                  <a:schemeClr val="bg1"/>
                </a:solidFill>
              </a:rPr>
              <a:t>Exports and spreadsheet joins</a:t>
            </a:r>
            <a:endParaRPr lang="en-US" sz="1500" dirty="0"/>
          </a:p>
        </p:txBody>
      </p:sp>
      <p:sp>
        <p:nvSpPr>
          <p:cNvPr id="25" name="chain arrow 0"/>
          <p:cNvSpPr/>
          <p:nvPr/>
        </p:nvSpPr>
        <p:spPr>
          <a:xfrm>
            <a:off x="2880360" y="3840480"/>
            <a:ext cx="274320" cy="0"/>
          </a:xfrm>
          <a:prstGeom prst="line">
            <a:avLst/>
          </a:prstGeom>
          <a:noFill/>
          <a:ln w="19050">
            <a:solidFill>
              <a:schemeClr val="bg2"/>
            </a:solidFill>
            <a:prstDash val="solid"/>
            <a:tailEnd type="triangle"/>
          </a:ln>
        </p:spPr>
      </p:sp>
      <p:sp>
        <p:nvSpPr>
          <p:cNvPr id="26" name="Text 20"/>
          <p:cNvSpPr txBox="1"/>
          <p:nvPr/>
        </p:nvSpPr>
        <p:spPr>
          <a:xfrm>
            <a:off x="3291840" y="3566160"/>
            <a:ext cx="2423160" cy="548640"/>
          </a:xfrm>
          <a:prstGeom prst="rect">
            <a:avLst/>
          </a:prstGeom>
          <a:noFill/>
          <a:ln/>
        </p:spPr>
        <p:txBody>
          <a:bodyPr wrap="square" lIns="0" tIns="0" rIns="0" bIns="0" rtlCol="0" anchor="ctr"/>
          <a:lstStyle/>
          <a:p>
            <a:pPr indent="0" marL="0">
              <a:buNone/>
            </a:pPr>
            <a:r>
              <a:rPr lang="en-US" sz="1500" dirty="0">
                <a:solidFill>
                  <a:schemeClr val="bg1"/>
                </a:solidFill>
              </a:rPr>
              <a:t>Broad, hand-built segments</a:t>
            </a:r>
            <a:endParaRPr lang="en-US" sz="1500" dirty="0"/>
          </a:p>
        </p:txBody>
      </p:sp>
      <p:sp>
        <p:nvSpPr>
          <p:cNvPr id="27" name="chain arrow 1"/>
          <p:cNvSpPr/>
          <p:nvPr/>
        </p:nvSpPr>
        <p:spPr>
          <a:xfrm>
            <a:off x="5715000" y="3840480"/>
            <a:ext cx="274320" cy="0"/>
          </a:xfrm>
          <a:prstGeom prst="line">
            <a:avLst/>
          </a:prstGeom>
          <a:noFill/>
          <a:ln w="19050">
            <a:solidFill>
              <a:schemeClr val="bg2"/>
            </a:solidFill>
            <a:prstDash val="solid"/>
            <a:tailEnd type="triangle"/>
          </a:ln>
        </p:spPr>
      </p:sp>
      <p:sp>
        <p:nvSpPr>
          <p:cNvPr id="28" name="Text 22"/>
          <p:cNvSpPr txBox="1"/>
          <p:nvPr/>
        </p:nvSpPr>
        <p:spPr>
          <a:xfrm>
            <a:off x="6126480" y="3566160"/>
            <a:ext cx="2423160" cy="548640"/>
          </a:xfrm>
          <a:prstGeom prst="rect">
            <a:avLst/>
          </a:prstGeom>
          <a:noFill/>
          <a:ln/>
        </p:spPr>
        <p:txBody>
          <a:bodyPr wrap="square" lIns="0" tIns="0" rIns="0" bIns="0" rtlCol="0" anchor="ctr"/>
          <a:lstStyle/>
          <a:p>
            <a:pPr indent="0" marL="0">
              <a:buNone/>
            </a:pPr>
            <a:r>
              <a:rPr lang="en-US" sz="1500" b="1" dirty="0">
                <a:solidFill>
                  <a:schemeClr val="accent1"/>
                </a:solidFill>
              </a:rPr>
              <a:t>Tired fans, missed buyers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Everything reaches Aura through MCP</a:t>
            </a:r>
            <a:endParaRPr lang="en-US" sz="3000" dirty="0"/>
          </a:p>
        </p:txBody>
      </p:sp>
      <p:sp>
        <p:nvSpPr>
          <p:cNvPr id="3" name="local zone"/>
          <p:cNvSpPr/>
          <p:nvPr/>
        </p:nvSpPr>
        <p:spPr>
          <a:xfrm>
            <a:off x="457200" y="1188720"/>
            <a:ext cx="2697480" cy="3383280"/>
          </a:xfrm>
          <a:prstGeom prst="roundRect">
            <a:avLst>
              <a:gd name="adj" fmla="val 4068"/>
            </a:avLst>
          </a:prstGeom>
          <a:solidFill>
            <a:schemeClr val="tx1"/>
          </a:solidFill>
          <a:ln w="19050">
            <a:solidFill>
              <a:schemeClr val="accent5"/>
            </a:solidFill>
            <a:prstDash val="dash"/>
          </a:ln>
        </p:spPr>
      </p:sp>
      <p:sp>
        <p:nvSpPr>
          <p:cNvPr id="4" name="Text 2"/>
          <p:cNvSpPr txBox="1"/>
          <p:nvPr/>
        </p:nvSpPr>
        <p:spPr>
          <a:xfrm>
            <a:off x="640080" y="1298448"/>
            <a:ext cx="2377440" cy="256032"/>
          </a:xfrm>
          <a:prstGeom prst="rect">
            <a:avLst/>
          </a:prstGeom>
          <a:noFill/>
          <a:ln/>
        </p:spPr>
        <p:txBody>
          <a:bodyPr wrap="square" lIns="0" tIns="0" rIns="0" bIns="0" rtlCol="0" anchor="ctr"/>
          <a:lstStyle/>
          <a:p>
            <a:pPr indent="0" marL="0">
              <a:buNone/>
            </a:pPr>
            <a:r>
              <a:rPr lang="en-US" sz="1000" b="1" spc="100" kern="0" dirty="0">
                <a:solidFill>
                  <a:schemeClr val="bg2"/>
                </a:solidFill>
              </a:rPr>
              <a:t>LOCAL · FAN-JOURNEY/</a:t>
            </a:r>
            <a:endParaRPr lang="en-US" sz="1000" dirty="0"/>
          </a:p>
        </p:txBody>
      </p:sp>
      <p:sp>
        <p:nvSpPr>
          <p:cNvPr id="5" name="generate.py box"/>
          <p:cNvSpPr/>
          <p:nvPr/>
        </p:nvSpPr>
        <p:spPr>
          <a:xfrm>
            <a:off x="640080" y="1645920"/>
            <a:ext cx="2331720" cy="457200"/>
          </a:xfrm>
          <a:prstGeom prst="roundRect">
            <a:avLst>
              <a:gd name="adj" fmla="val 20000"/>
            </a:avLst>
          </a:prstGeom>
          <a:solidFill>
            <a:schemeClr val="tx2"/>
          </a:solidFill>
          <a:ln w="12700">
            <a:solidFill>
              <a:schemeClr val="tx2"/>
            </a:solidFill>
            <a:prstDash val="solid"/>
          </a:ln>
        </p:spPr>
      </p:sp>
      <p:sp>
        <p:nvSpPr>
          <p:cNvPr id="6" name="Text 4"/>
          <p:cNvSpPr txBox="1"/>
          <p:nvPr/>
        </p:nvSpPr>
        <p:spPr>
          <a:xfrm>
            <a:off x="777240" y="1645920"/>
            <a:ext cx="2148840" cy="457200"/>
          </a:xfrm>
          <a:prstGeom prst="rect">
            <a:avLst/>
          </a:prstGeom>
          <a:noFill/>
          <a:ln/>
        </p:spPr>
        <p:txBody>
          <a:bodyPr wrap="square" lIns="0" tIns="0" rIns="0" bIns="0" rtlCol="0" anchor="ctr"/>
          <a:lstStyle/>
          <a:p>
            <a:pPr indent="0" marL="0">
              <a:buNone/>
            </a:pPr>
            <a:r>
              <a:rPr lang="en-US" sz="1300" b="1" dirty="0">
                <a:solidFill>
                  <a:schemeClr val="bg1"/>
                </a:solidFill>
              </a:rPr>
              <a:t>generate.py</a:t>
            </a:r>
            <a:pPr indent="0" marL="0">
              <a:buNone/>
            </a:pPr>
            <a:r>
              <a:rPr lang="en-US" sz="1100" dirty="0">
                <a:solidFill>
                  <a:schemeClr val="bg2"/>
                </a:solidFill>
              </a:rPr>
              <a:t>  18 synthetic CSVs</a:t>
            </a:r>
            <a:endParaRPr lang="en-US" sz="1300" dirty="0"/>
          </a:p>
        </p:txBody>
      </p:sp>
      <p:sp>
        <p:nvSpPr>
          <p:cNvPr id="7" name="load.py box"/>
          <p:cNvSpPr/>
          <p:nvPr/>
        </p:nvSpPr>
        <p:spPr>
          <a:xfrm>
            <a:off x="640080" y="2212848"/>
            <a:ext cx="2331720" cy="457200"/>
          </a:xfrm>
          <a:prstGeom prst="roundRect">
            <a:avLst>
              <a:gd name="adj" fmla="val 20000"/>
            </a:avLst>
          </a:prstGeom>
          <a:solidFill>
            <a:schemeClr val="tx2"/>
          </a:solidFill>
          <a:ln w="12700">
            <a:solidFill>
              <a:schemeClr val="tx2"/>
            </a:solidFill>
            <a:prstDash val="solid"/>
          </a:ln>
        </p:spPr>
      </p:sp>
      <p:sp>
        <p:nvSpPr>
          <p:cNvPr id="8" name="Text 6"/>
          <p:cNvSpPr txBox="1"/>
          <p:nvPr/>
        </p:nvSpPr>
        <p:spPr>
          <a:xfrm>
            <a:off x="777240" y="2212848"/>
            <a:ext cx="2148840" cy="457200"/>
          </a:xfrm>
          <a:prstGeom prst="rect">
            <a:avLst/>
          </a:prstGeom>
          <a:noFill/>
          <a:ln/>
        </p:spPr>
        <p:txBody>
          <a:bodyPr wrap="square" lIns="0" tIns="0" rIns="0" bIns="0" rtlCol="0" anchor="ctr"/>
          <a:lstStyle/>
          <a:p>
            <a:pPr indent="0" marL="0">
              <a:buNone/>
            </a:pPr>
            <a:r>
              <a:rPr lang="en-US" sz="1300" b="1" dirty="0">
                <a:solidFill>
                  <a:schemeClr val="bg1"/>
                </a:solidFill>
              </a:rPr>
              <a:t>load.py</a:t>
            </a:r>
            <a:pPr indent="0" marL="0">
              <a:buNone/>
            </a:pPr>
            <a:r>
              <a:rPr lang="en-US" sz="1100" dirty="0">
                <a:solidFill>
                  <a:schemeClr val="bg2"/>
                </a:solidFill>
              </a:rPr>
              <a:t>  constraints + MERGE</a:t>
            </a:r>
            <a:endParaRPr lang="en-US" sz="1300" dirty="0"/>
          </a:p>
        </p:txBody>
      </p:sp>
      <p:sp>
        <p:nvSpPr>
          <p:cNvPr id="9" name="intelligence.py box"/>
          <p:cNvSpPr/>
          <p:nvPr/>
        </p:nvSpPr>
        <p:spPr>
          <a:xfrm>
            <a:off x="640080" y="2779776"/>
            <a:ext cx="2331720" cy="457200"/>
          </a:xfrm>
          <a:prstGeom prst="roundRect">
            <a:avLst>
              <a:gd name="adj" fmla="val 20000"/>
            </a:avLst>
          </a:prstGeom>
          <a:solidFill>
            <a:schemeClr val="tx2"/>
          </a:solidFill>
          <a:ln w="12700">
            <a:solidFill>
              <a:schemeClr val="tx2"/>
            </a:solidFill>
            <a:prstDash val="solid"/>
          </a:ln>
        </p:spPr>
      </p:sp>
      <p:sp>
        <p:nvSpPr>
          <p:cNvPr id="10" name="Text 8"/>
          <p:cNvSpPr txBox="1"/>
          <p:nvPr/>
        </p:nvSpPr>
        <p:spPr>
          <a:xfrm>
            <a:off x="777240" y="2779776"/>
            <a:ext cx="2148840" cy="457200"/>
          </a:xfrm>
          <a:prstGeom prst="rect">
            <a:avLst/>
          </a:prstGeom>
          <a:noFill/>
          <a:ln/>
        </p:spPr>
        <p:txBody>
          <a:bodyPr wrap="square" lIns="0" tIns="0" rIns="0" bIns="0" rtlCol="0" anchor="ctr"/>
          <a:lstStyle/>
          <a:p>
            <a:pPr indent="0" marL="0">
              <a:buNone/>
            </a:pPr>
            <a:r>
              <a:rPr lang="en-US" sz="1300" b="1" dirty="0">
                <a:solidFill>
                  <a:schemeClr val="accent1"/>
                </a:solidFill>
              </a:rPr>
              <a:t>intelligence.py</a:t>
            </a:r>
            <a:pPr indent="0" marL="0">
              <a:buNone/>
            </a:pPr>
            <a:r>
              <a:rPr lang="en-US" sz="1100" dirty="0">
                <a:solidFill>
                  <a:schemeClr val="bg2"/>
                </a:solidFill>
              </a:rPr>
              <a:t>  segments + scores</a:t>
            </a:r>
            <a:endParaRPr lang="en-US" sz="1300" dirty="0"/>
          </a:p>
        </p:txBody>
      </p:sp>
      <p:sp>
        <p:nvSpPr>
          <p:cNvPr id="11" name="demo.py box"/>
          <p:cNvSpPr/>
          <p:nvPr/>
        </p:nvSpPr>
        <p:spPr>
          <a:xfrm>
            <a:off x="640080" y="3346704"/>
            <a:ext cx="2331720" cy="457200"/>
          </a:xfrm>
          <a:prstGeom prst="roundRect">
            <a:avLst>
              <a:gd name="adj" fmla="val 20000"/>
            </a:avLst>
          </a:prstGeom>
          <a:solidFill>
            <a:schemeClr val="tx2"/>
          </a:solidFill>
          <a:ln w="12700">
            <a:solidFill>
              <a:schemeClr val="tx2"/>
            </a:solidFill>
            <a:prstDash val="solid"/>
          </a:ln>
        </p:spPr>
      </p:sp>
      <p:sp>
        <p:nvSpPr>
          <p:cNvPr id="12" name="Text 10"/>
          <p:cNvSpPr txBox="1"/>
          <p:nvPr/>
        </p:nvSpPr>
        <p:spPr>
          <a:xfrm>
            <a:off x="777240" y="3346704"/>
            <a:ext cx="2148840" cy="457200"/>
          </a:xfrm>
          <a:prstGeom prst="rect">
            <a:avLst/>
          </a:prstGeom>
          <a:noFill/>
          <a:ln/>
        </p:spPr>
        <p:txBody>
          <a:bodyPr wrap="square" lIns="0" tIns="0" rIns="0" bIns="0" rtlCol="0" anchor="ctr"/>
          <a:lstStyle/>
          <a:p>
            <a:pPr indent="0" marL="0">
              <a:buNone/>
            </a:pPr>
            <a:r>
              <a:rPr lang="en-US" sz="1300" b="1" dirty="0">
                <a:solidFill>
                  <a:schemeClr val="bg1"/>
                </a:solidFill>
              </a:rPr>
              <a:t>demo.py</a:t>
            </a:r>
            <a:pPr indent="0" marL="0">
              <a:buNone/>
            </a:pPr>
            <a:r>
              <a:rPr lang="en-US" sz="1100" dirty="0">
                <a:solidFill>
                  <a:schemeClr val="bg2"/>
                </a:solidFill>
              </a:rPr>
              <a:t>  11 business queries</a:t>
            </a:r>
            <a:endParaRPr lang="en-US" sz="1300" dirty="0"/>
          </a:p>
        </p:txBody>
      </p:sp>
      <p:sp>
        <p:nvSpPr>
          <p:cNvPr id="13" name="visualize.py box"/>
          <p:cNvSpPr/>
          <p:nvPr/>
        </p:nvSpPr>
        <p:spPr>
          <a:xfrm>
            <a:off x="640080" y="3913632"/>
            <a:ext cx="2331720" cy="457200"/>
          </a:xfrm>
          <a:prstGeom prst="roundRect">
            <a:avLst>
              <a:gd name="adj" fmla="val 20000"/>
            </a:avLst>
          </a:prstGeom>
          <a:solidFill>
            <a:schemeClr val="tx2"/>
          </a:solidFill>
          <a:ln w="12700">
            <a:solidFill>
              <a:schemeClr val="tx2"/>
            </a:solidFill>
            <a:prstDash val="solid"/>
          </a:ln>
        </p:spPr>
      </p:sp>
      <p:sp>
        <p:nvSpPr>
          <p:cNvPr id="14" name="Text 12"/>
          <p:cNvSpPr txBox="1"/>
          <p:nvPr/>
        </p:nvSpPr>
        <p:spPr>
          <a:xfrm>
            <a:off x="777240" y="3913632"/>
            <a:ext cx="2148840" cy="457200"/>
          </a:xfrm>
          <a:prstGeom prst="rect">
            <a:avLst/>
          </a:prstGeom>
          <a:noFill/>
          <a:ln/>
        </p:spPr>
        <p:txBody>
          <a:bodyPr wrap="square" lIns="0" tIns="0" rIns="0" bIns="0" rtlCol="0" anchor="ctr"/>
          <a:lstStyle/>
          <a:p>
            <a:pPr indent="0" marL="0">
              <a:buNone/>
            </a:pPr>
            <a:r>
              <a:rPr lang="en-US" sz="1300" b="1" dirty="0">
                <a:solidFill>
                  <a:schemeClr val="bg1"/>
                </a:solidFill>
              </a:rPr>
              <a:t>visualize.py</a:t>
            </a:r>
            <a:pPr indent="0" marL="0">
              <a:buNone/>
            </a:pPr>
            <a:r>
              <a:rPr lang="en-US" sz="1100" dirty="0">
                <a:solidFill>
                  <a:schemeClr val="bg2"/>
                </a:solidFill>
              </a:rPr>
              <a:t>  graph.html</a:t>
            </a:r>
            <a:endParaRPr lang="en-US" sz="1300" dirty="0"/>
          </a:p>
        </p:txBody>
      </p:sp>
      <p:sp>
        <p:nvSpPr>
          <p:cNvPr id="15" name="claude code box"/>
          <p:cNvSpPr/>
          <p:nvPr/>
        </p:nvSpPr>
        <p:spPr>
          <a:xfrm>
            <a:off x="3474720" y="1600200"/>
            <a:ext cx="1463040" cy="868680"/>
          </a:xfrm>
          <a:prstGeom prst="roundRect">
            <a:avLst>
              <a:gd name="adj" fmla="val 10526"/>
            </a:avLst>
          </a:prstGeom>
          <a:solidFill>
            <a:schemeClr val="tx2"/>
          </a:solidFill>
          <a:ln w="12700">
            <a:solidFill>
              <a:schemeClr val="tx2"/>
            </a:solidFill>
            <a:prstDash val="solid"/>
          </a:ln>
        </p:spPr>
      </p:sp>
      <p:sp>
        <p:nvSpPr>
          <p:cNvPr id="16" name="Text 14"/>
          <p:cNvSpPr txBox="1"/>
          <p:nvPr/>
        </p:nvSpPr>
        <p:spPr>
          <a:xfrm>
            <a:off x="3611880" y="1600200"/>
            <a:ext cx="1234440" cy="868680"/>
          </a:xfrm>
          <a:prstGeom prst="rect">
            <a:avLst/>
          </a:prstGeom>
          <a:noFill/>
          <a:ln/>
        </p:spPr>
        <p:txBody>
          <a:bodyPr wrap="square" lIns="0" tIns="0" rIns="0" bIns="0" rtlCol="0" anchor="ctr"/>
          <a:lstStyle/>
          <a:p>
            <a:pPr indent="0" marL="0">
              <a:buNone/>
            </a:pPr>
            <a:r>
              <a:rPr lang="en-US" sz="1400" b="1" dirty="0">
                <a:solidFill>
                  <a:schemeClr val="bg1"/>
                </a:solidFill>
              </a:rPr>
              <a:t>Claude Code</a:t>
            </a:r>
            <a:endParaRPr lang="en-US" sz="1400" dirty="0"/>
          </a:p>
          <a:p>
            <a:pPr indent="0" marL="0">
              <a:buNone/>
            </a:pPr>
            <a:r>
              <a:rPr lang="en-US" sz="1100" dirty="0">
                <a:solidFill>
                  <a:schemeClr val="bg2"/>
                </a:solidFill>
              </a:rPr>
              <a:t>AI agent</a:t>
            </a:r>
            <a:endParaRPr lang="en-US" sz="1400" dirty="0"/>
          </a:p>
        </p:txBody>
      </p:sp>
      <p:sp>
        <p:nvSpPr>
          <p:cNvPr id="17" name="mcp-remote box"/>
          <p:cNvSpPr/>
          <p:nvPr/>
        </p:nvSpPr>
        <p:spPr>
          <a:xfrm>
            <a:off x="3474720" y="2834640"/>
            <a:ext cx="1463040" cy="868680"/>
          </a:xfrm>
          <a:prstGeom prst="roundRect">
            <a:avLst>
              <a:gd name="adj" fmla="val 10526"/>
            </a:avLst>
          </a:prstGeom>
          <a:solidFill>
            <a:schemeClr val="tx2"/>
          </a:solidFill>
          <a:ln w="12700">
            <a:solidFill>
              <a:schemeClr val="tx2"/>
            </a:solidFill>
            <a:prstDash val="solid"/>
          </a:ln>
        </p:spPr>
      </p:sp>
      <p:sp>
        <p:nvSpPr>
          <p:cNvPr id="18" name="Text 16"/>
          <p:cNvSpPr txBox="1"/>
          <p:nvPr/>
        </p:nvSpPr>
        <p:spPr>
          <a:xfrm>
            <a:off x="3611880" y="2834640"/>
            <a:ext cx="1234440" cy="868680"/>
          </a:xfrm>
          <a:prstGeom prst="rect">
            <a:avLst/>
          </a:prstGeom>
          <a:noFill/>
          <a:ln/>
        </p:spPr>
        <p:txBody>
          <a:bodyPr wrap="square" lIns="0" tIns="0" rIns="0" bIns="0" rtlCol="0" anchor="ctr"/>
          <a:lstStyle/>
          <a:p>
            <a:pPr indent="0" marL="0">
              <a:buNone/>
            </a:pPr>
            <a:r>
              <a:rPr lang="en-US" sz="1400" b="1" dirty="0">
                <a:solidFill>
                  <a:schemeClr val="bg1"/>
                </a:solidFill>
              </a:rPr>
              <a:t>mcp-remote</a:t>
            </a:r>
            <a:endParaRPr lang="en-US" sz="1400" dirty="0"/>
          </a:p>
          <a:p>
            <a:pPr indent="0" marL="0">
              <a:buNone/>
            </a:pPr>
            <a:r>
              <a:rPr lang="en-US" sz="1100" dirty="0">
                <a:solidFill>
                  <a:schemeClr val="bg2"/>
                </a:solidFill>
              </a:rPr>
              <a:t>stdio to HTTP, OAuth</a:t>
            </a:r>
            <a:endParaRPr lang="en-US" sz="1400" dirty="0"/>
          </a:p>
        </p:txBody>
      </p:sp>
      <p:sp>
        <p:nvSpPr>
          <p:cNvPr id="19" name="scripts to mcp-remote"/>
          <p:cNvSpPr/>
          <p:nvPr/>
        </p:nvSpPr>
        <p:spPr>
          <a:xfrm>
            <a:off x="3154680" y="3268980"/>
            <a:ext cx="320040" cy="0"/>
          </a:xfrm>
          <a:prstGeom prst="line">
            <a:avLst/>
          </a:prstGeom>
          <a:noFill/>
          <a:ln w="19050">
            <a:solidFill>
              <a:schemeClr val="bg2"/>
            </a:solidFill>
            <a:prstDash val="solid"/>
            <a:tailEnd type="triangle"/>
          </a:ln>
        </p:spPr>
      </p:sp>
      <p:sp>
        <p:nvSpPr>
          <p:cNvPr id="20" name="aura zone"/>
          <p:cNvSpPr/>
          <p:nvPr/>
        </p:nvSpPr>
        <p:spPr>
          <a:xfrm>
            <a:off x="5257800" y="1188720"/>
            <a:ext cx="3429000" cy="2743200"/>
          </a:xfrm>
          <a:prstGeom prst="roundRect">
            <a:avLst>
              <a:gd name="adj" fmla="val 4000"/>
            </a:avLst>
          </a:prstGeom>
          <a:solidFill>
            <a:schemeClr val="tx1"/>
          </a:solidFill>
          <a:ln w="19050">
            <a:solidFill>
              <a:schemeClr val="accent5"/>
            </a:solidFill>
            <a:prstDash val="dash"/>
          </a:ln>
        </p:spPr>
      </p:sp>
      <p:sp>
        <p:nvSpPr>
          <p:cNvPr id="21" name="Text 19"/>
          <p:cNvSpPr txBox="1"/>
          <p:nvPr/>
        </p:nvSpPr>
        <p:spPr>
          <a:xfrm>
            <a:off x="5440680" y="1298448"/>
            <a:ext cx="2743200" cy="256032"/>
          </a:xfrm>
          <a:prstGeom prst="rect">
            <a:avLst/>
          </a:prstGeom>
          <a:noFill/>
          <a:ln/>
        </p:spPr>
        <p:txBody>
          <a:bodyPr wrap="square" lIns="0" tIns="0" rIns="0" bIns="0" rtlCol="0" anchor="ctr"/>
          <a:lstStyle/>
          <a:p>
            <a:pPr indent="0" marL="0">
              <a:buNone/>
            </a:pPr>
            <a:r>
              <a:rPr lang="en-US" sz="1000" b="1" spc="100" kern="0" dirty="0">
                <a:solidFill>
                  <a:schemeClr val="accent2"/>
                </a:solidFill>
              </a:rPr>
              <a:t>NEO4J AURA</a:t>
            </a:r>
            <a:endParaRPr lang="en-US" sz="1000" dirty="0"/>
          </a:p>
        </p:txBody>
      </p:sp>
      <p:sp>
        <p:nvSpPr>
          <p:cNvPr id="22" name="aura mcp box"/>
          <p:cNvSpPr/>
          <p:nvPr/>
        </p:nvSpPr>
        <p:spPr>
          <a:xfrm>
            <a:off x="5440680" y="1645920"/>
            <a:ext cx="1325880" cy="2103120"/>
          </a:xfrm>
          <a:prstGeom prst="roundRect">
            <a:avLst>
              <a:gd name="adj" fmla="val 6897"/>
            </a:avLst>
          </a:prstGeom>
          <a:solidFill>
            <a:schemeClr val="accent5"/>
          </a:solidFill>
          <a:ln w="12700">
            <a:solidFill>
              <a:schemeClr val="accent5"/>
            </a:solidFill>
            <a:prstDash val="solid"/>
          </a:ln>
        </p:spPr>
      </p:sp>
      <p:sp>
        <p:nvSpPr>
          <p:cNvPr id="23" name="Text 21"/>
          <p:cNvSpPr txBox="1"/>
          <p:nvPr/>
        </p:nvSpPr>
        <p:spPr>
          <a:xfrm>
            <a:off x="5559552" y="1645920"/>
            <a:ext cx="1143000" cy="2103120"/>
          </a:xfrm>
          <a:prstGeom prst="rect">
            <a:avLst/>
          </a:prstGeom>
          <a:noFill/>
          <a:ln/>
        </p:spPr>
        <p:txBody>
          <a:bodyPr wrap="square" lIns="0" tIns="0" rIns="0" bIns="0" rtlCol="0" anchor="ctr"/>
          <a:lstStyle/>
          <a:p>
            <a:pPr indent="0" marL="0">
              <a:buNone/>
            </a:pPr>
            <a:r>
              <a:rPr lang="en-US" sz="1400" b="1" dirty="0">
                <a:solidFill>
                  <a:schemeClr val="bg1"/>
                </a:solidFill>
              </a:rPr>
              <a:t>Aura MCP server</a:t>
            </a:r>
            <a:endParaRPr lang="en-US" sz="1400" dirty="0"/>
          </a:p>
          <a:p>
            <a:pPr indent="0" marL="0">
              <a:buNone/>
            </a:pPr>
            <a:r>
              <a:rPr lang="en-US" sz="600" dirty="0">
                <a:solidFill>
                  <a:schemeClr val="bg1"/>
                </a:solidFill>
              </a:rPr>
              <a:t> </a:t>
            </a:r>
            <a:endParaRPr lang="en-US" sz="1400" dirty="0"/>
          </a:p>
          <a:p>
            <a:pPr indent="0" marL="0">
              <a:buNone/>
            </a:pPr>
            <a:r>
              <a:rPr lang="en-US" sz="1100" dirty="0">
                <a:solidFill>
                  <a:schemeClr val="accent2"/>
                </a:solidFill>
              </a:rPr>
              <a:t>get-schema</a:t>
            </a:r>
            <a:endParaRPr lang="en-US" sz="1400" dirty="0"/>
          </a:p>
          <a:p>
            <a:pPr indent="0" marL="0">
              <a:buNone/>
            </a:pPr>
            <a:r>
              <a:rPr lang="en-US" sz="1100" dirty="0">
                <a:solidFill>
                  <a:schemeClr val="accent2"/>
                </a:solidFill>
              </a:rPr>
              <a:t>read-cypher</a:t>
            </a:r>
            <a:endParaRPr lang="en-US" sz="1400" dirty="0"/>
          </a:p>
          <a:p>
            <a:pPr indent="0" marL="0">
              <a:buNone/>
            </a:pPr>
            <a:r>
              <a:rPr lang="en-US" sz="1100" dirty="0">
                <a:solidFill>
                  <a:schemeClr val="accent2"/>
                </a:solidFill>
              </a:rPr>
              <a:t>write-cypher</a:t>
            </a:r>
            <a:endParaRPr lang="en-US" sz="1400" dirty="0"/>
          </a:p>
        </p:txBody>
      </p:sp>
      <p:sp>
        <p:nvSpPr>
          <p:cNvPr id="24" name="agent to mcp"/>
          <p:cNvSpPr/>
          <p:nvPr/>
        </p:nvSpPr>
        <p:spPr>
          <a:xfrm>
            <a:off x="4937760" y="2034540"/>
            <a:ext cx="502920" cy="0"/>
          </a:xfrm>
          <a:prstGeom prst="line">
            <a:avLst/>
          </a:prstGeom>
          <a:noFill/>
          <a:ln w="19050">
            <a:solidFill>
              <a:schemeClr val="bg2"/>
            </a:solidFill>
            <a:prstDash val="solid"/>
            <a:tailEnd type="triangle"/>
          </a:ln>
        </p:spPr>
      </p:sp>
      <p:sp>
        <p:nvSpPr>
          <p:cNvPr id="25" name="mcp-remote to mcp"/>
          <p:cNvSpPr/>
          <p:nvPr/>
        </p:nvSpPr>
        <p:spPr>
          <a:xfrm>
            <a:off x="4937760" y="3268980"/>
            <a:ext cx="502920" cy="0"/>
          </a:xfrm>
          <a:prstGeom prst="line">
            <a:avLst/>
          </a:prstGeom>
          <a:noFill/>
          <a:ln w="19050">
            <a:solidFill>
              <a:schemeClr val="bg2"/>
            </a:solidFill>
            <a:prstDash val="solid"/>
            <a:tailEnd type="triangle"/>
          </a:ln>
        </p:spPr>
      </p:sp>
      <p:sp>
        <p:nvSpPr>
          <p:cNvPr id="26" name="auradb box"/>
          <p:cNvSpPr/>
          <p:nvPr/>
        </p:nvSpPr>
        <p:spPr>
          <a:xfrm>
            <a:off x="7132320" y="1645920"/>
            <a:ext cx="1371600" cy="868680"/>
          </a:xfrm>
          <a:prstGeom prst="roundRect">
            <a:avLst>
              <a:gd name="adj" fmla="val 10526"/>
            </a:avLst>
          </a:prstGeom>
          <a:solidFill>
            <a:schemeClr val="tx2"/>
          </a:solidFill>
          <a:ln w="12700">
            <a:solidFill>
              <a:schemeClr val="tx2"/>
            </a:solidFill>
            <a:prstDash val="solid"/>
          </a:ln>
        </p:spPr>
      </p:sp>
      <p:sp>
        <p:nvSpPr>
          <p:cNvPr id="27" name="Text 25"/>
          <p:cNvSpPr txBox="1"/>
          <p:nvPr/>
        </p:nvSpPr>
        <p:spPr>
          <a:xfrm>
            <a:off x="7269480" y="1645920"/>
            <a:ext cx="1188720" cy="868680"/>
          </a:xfrm>
          <a:prstGeom prst="rect">
            <a:avLst/>
          </a:prstGeom>
          <a:noFill/>
          <a:ln/>
        </p:spPr>
        <p:txBody>
          <a:bodyPr wrap="square" lIns="0" tIns="0" rIns="0" bIns="0" rtlCol="0" anchor="ctr"/>
          <a:lstStyle/>
          <a:p>
            <a:pPr indent="0" marL="0">
              <a:buNone/>
            </a:pPr>
            <a:r>
              <a:rPr lang="en-US" sz="1400" b="1" dirty="0">
                <a:solidFill>
                  <a:schemeClr val="bg1"/>
                </a:solidFill>
              </a:rPr>
              <a:t>AuraDB</a:t>
            </a:r>
            <a:endParaRPr lang="en-US" sz="1400" dirty="0"/>
          </a:p>
          <a:p>
            <a:pPr indent="0" marL="0">
              <a:buNone/>
            </a:pPr>
            <a:r>
              <a:rPr lang="en-US" sz="1100" dirty="0">
                <a:solidFill>
                  <a:schemeClr val="bg2"/>
                </a:solidFill>
              </a:rPr>
              <a:t>Fan Journey graph</a:t>
            </a:r>
            <a:endParaRPr lang="en-US" sz="1400" dirty="0"/>
          </a:p>
        </p:txBody>
      </p:sp>
      <p:sp>
        <p:nvSpPr>
          <p:cNvPr id="28" name="aga box"/>
          <p:cNvSpPr/>
          <p:nvPr/>
        </p:nvSpPr>
        <p:spPr>
          <a:xfrm>
            <a:off x="7132320" y="2880360"/>
            <a:ext cx="1371600" cy="868680"/>
          </a:xfrm>
          <a:prstGeom prst="roundRect">
            <a:avLst>
              <a:gd name="adj" fmla="val 10526"/>
            </a:avLst>
          </a:prstGeom>
          <a:solidFill>
            <a:schemeClr val="tx2"/>
          </a:solidFill>
          <a:ln w="12700">
            <a:solidFill>
              <a:schemeClr val="tx2"/>
            </a:solidFill>
            <a:prstDash val="solid"/>
          </a:ln>
        </p:spPr>
      </p:sp>
      <p:sp>
        <p:nvSpPr>
          <p:cNvPr id="29" name="Text 27"/>
          <p:cNvSpPr txBox="1"/>
          <p:nvPr/>
        </p:nvSpPr>
        <p:spPr>
          <a:xfrm>
            <a:off x="7269480" y="2880360"/>
            <a:ext cx="1188720" cy="868680"/>
          </a:xfrm>
          <a:prstGeom prst="rect">
            <a:avLst/>
          </a:prstGeom>
          <a:noFill/>
          <a:ln/>
        </p:spPr>
        <p:txBody>
          <a:bodyPr wrap="square" lIns="0" tIns="0" rIns="0" bIns="0" rtlCol="0" anchor="ctr"/>
          <a:lstStyle/>
          <a:p>
            <a:pPr indent="0" marL="0">
              <a:buNone/>
            </a:pPr>
            <a:r>
              <a:rPr lang="en-US" sz="1400" b="1" dirty="0">
                <a:solidFill>
                  <a:schemeClr val="bg1"/>
                </a:solidFill>
              </a:rPr>
              <a:t>Graph Analytics</a:t>
            </a:r>
            <a:endParaRPr lang="en-US" sz="1400" dirty="0"/>
          </a:p>
          <a:p>
            <a:pPr indent="0" marL="0">
              <a:buNone/>
            </a:pPr>
            <a:r>
              <a:rPr lang="en-US" sz="1100" dirty="0">
                <a:solidFill>
                  <a:schemeClr val="bg2"/>
                </a:solidFill>
              </a:rPr>
              <a:t>GDS session, 2 GB</a:t>
            </a:r>
            <a:endParaRPr lang="en-US" sz="1400" dirty="0"/>
          </a:p>
        </p:txBody>
      </p:sp>
      <p:sp>
        <p:nvSpPr>
          <p:cNvPr id="30" name="mcp to db"/>
          <p:cNvSpPr/>
          <p:nvPr/>
        </p:nvSpPr>
        <p:spPr>
          <a:xfrm>
            <a:off x="6766560" y="2080260"/>
            <a:ext cx="365760" cy="0"/>
          </a:xfrm>
          <a:prstGeom prst="line">
            <a:avLst/>
          </a:prstGeom>
          <a:noFill/>
          <a:ln w="19050">
            <a:solidFill>
              <a:schemeClr val="bg2"/>
            </a:solidFill>
            <a:prstDash val="solid"/>
            <a:tailEnd type="triangle"/>
          </a:ln>
        </p:spPr>
      </p:sp>
      <p:sp>
        <p:nvSpPr>
          <p:cNvPr id="31" name="db to aga"/>
          <p:cNvSpPr/>
          <p:nvPr/>
        </p:nvSpPr>
        <p:spPr>
          <a:xfrm>
            <a:off x="7818120" y="2514600"/>
            <a:ext cx="0" cy="365760"/>
          </a:xfrm>
          <a:prstGeom prst="line">
            <a:avLst/>
          </a:prstGeom>
          <a:noFill/>
          <a:ln w="19050">
            <a:solidFill>
              <a:schemeClr val="bg2"/>
            </a:solidFill>
            <a:prstDash val="solid"/>
            <a:headEnd type="triangle"/>
            <a:tailEnd type="triangle"/>
          </a:ln>
        </p:spPr>
      </p:sp>
      <p:sp>
        <p:nvSpPr>
          <p:cNvPr id="32" name="Text 30"/>
          <p:cNvSpPr txBox="1"/>
          <p:nvPr/>
        </p:nvSpPr>
        <p:spPr>
          <a:xfrm>
            <a:off x="5257800" y="4069080"/>
            <a:ext cx="3429000" cy="502920"/>
          </a:xfrm>
          <a:prstGeom prst="rect">
            <a:avLst/>
          </a:prstGeom>
          <a:noFill/>
          <a:ln/>
        </p:spPr>
        <p:txBody>
          <a:bodyPr wrap="square" lIns="0" tIns="0" rIns="0" bIns="0" rtlCol="0" anchor="t"/>
          <a:lstStyle/>
          <a:p>
            <a:pPr indent="0" marL="0">
              <a:buNone/>
            </a:pPr>
            <a:r>
              <a:rPr lang="en-US" sz="1100" dirty="0">
                <a:solidFill>
                  <a:schemeClr val="bg2"/>
                </a:solidFill>
              </a:rPr>
              <a:t>Claude Code also uses the GraphAcademy MCP server for learning content and modeling tools.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The graph derives three new relationships</a:t>
            </a:r>
            <a:endParaRPr lang="en-US" sz="3000" dirty="0"/>
          </a:p>
        </p:txBody>
      </p:sp>
      <p:sp>
        <p:nvSpPr>
          <p:cNvPr id="3" name="edge Fan-City"/>
          <p:cNvSpPr/>
          <p:nvPr/>
        </p:nvSpPr>
        <p:spPr>
          <a:xfrm>
            <a:off x="2423160" y="1600200"/>
            <a:ext cx="914" cy="1005840"/>
          </a:xfrm>
          <a:prstGeom prst="line">
            <a:avLst/>
          </a:prstGeom>
          <a:noFill/>
          <a:ln w="25400">
            <a:solidFill>
              <a:schemeClr val="accent5"/>
            </a:solidFill>
            <a:prstDash val="solid"/>
          </a:ln>
        </p:spPr>
      </p:sp>
      <p:sp>
        <p:nvSpPr>
          <p:cNvPr id="4" name="edge Fan-Order"/>
          <p:cNvSpPr/>
          <p:nvPr/>
        </p:nvSpPr>
        <p:spPr>
          <a:xfrm flipV="1">
            <a:off x="2423160" y="1600200"/>
            <a:ext cx="1508760" cy="1005840"/>
          </a:xfrm>
          <a:prstGeom prst="line">
            <a:avLst/>
          </a:prstGeom>
          <a:noFill/>
          <a:ln w="25400">
            <a:solidFill>
              <a:schemeClr val="accent5"/>
            </a:solidFill>
            <a:prstDash val="solid"/>
          </a:ln>
        </p:spPr>
      </p:sp>
      <p:sp>
        <p:nvSpPr>
          <p:cNvPr id="5" name="edge Order-Event"/>
          <p:cNvSpPr/>
          <p:nvPr/>
        </p:nvSpPr>
        <p:spPr>
          <a:xfrm>
            <a:off x="3931920" y="1600200"/>
            <a:ext cx="1508760" cy="1005840"/>
          </a:xfrm>
          <a:prstGeom prst="line">
            <a:avLst/>
          </a:prstGeom>
          <a:noFill/>
          <a:ln w="25400">
            <a:solidFill>
              <a:schemeClr val="accent5"/>
            </a:solidFill>
            <a:prstDash val="solid"/>
          </a:ln>
        </p:spPr>
      </p:sp>
      <p:sp>
        <p:nvSpPr>
          <p:cNvPr id="6" name="edge Event-Festival"/>
          <p:cNvSpPr/>
          <p:nvPr/>
        </p:nvSpPr>
        <p:spPr>
          <a:xfrm>
            <a:off x="5440680" y="1600200"/>
            <a:ext cx="914" cy="1005840"/>
          </a:xfrm>
          <a:prstGeom prst="line">
            <a:avLst/>
          </a:prstGeom>
          <a:noFill/>
          <a:ln w="25400">
            <a:solidFill>
              <a:schemeClr val="accent5"/>
            </a:solidFill>
            <a:prstDash val="solid"/>
          </a:ln>
        </p:spPr>
      </p:sp>
      <p:sp>
        <p:nvSpPr>
          <p:cNvPr id="7" name="edge Fan-Campaign"/>
          <p:cNvSpPr/>
          <p:nvPr/>
        </p:nvSpPr>
        <p:spPr>
          <a:xfrm>
            <a:off x="2423160" y="2606040"/>
            <a:ext cx="1508760" cy="1005840"/>
          </a:xfrm>
          <a:prstGeom prst="line">
            <a:avLst/>
          </a:prstGeom>
          <a:noFill/>
          <a:ln w="25400">
            <a:solidFill>
              <a:schemeClr val="accent5"/>
            </a:solidFill>
            <a:prstDash val="solid"/>
          </a:ln>
        </p:spPr>
      </p:sp>
      <p:sp>
        <p:nvSpPr>
          <p:cNvPr id="8" name="edge Campaign-Event"/>
          <p:cNvSpPr/>
          <p:nvPr/>
        </p:nvSpPr>
        <p:spPr>
          <a:xfrm flipV="1">
            <a:off x="3931920" y="2606040"/>
            <a:ext cx="1508760" cy="1005840"/>
          </a:xfrm>
          <a:prstGeom prst="line">
            <a:avLst/>
          </a:prstGeom>
          <a:noFill/>
          <a:ln w="25400">
            <a:solidFill>
              <a:schemeClr val="accent5"/>
            </a:solidFill>
            <a:prstDash val="solid"/>
          </a:ln>
        </p:spPr>
      </p:sp>
      <p:sp>
        <p:nvSpPr>
          <p:cNvPr id="9" name="edge Artist-Event"/>
          <p:cNvSpPr/>
          <p:nvPr/>
        </p:nvSpPr>
        <p:spPr>
          <a:xfrm>
            <a:off x="5440680" y="2606040"/>
            <a:ext cx="914" cy="1005840"/>
          </a:xfrm>
          <a:prstGeom prst="line">
            <a:avLst/>
          </a:prstGeom>
          <a:noFill/>
          <a:ln w="25400">
            <a:solidFill>
              <a:schemeClr val="accent5"/>
            </a:solidFill>
            <a:prstDash val="solid"/>
          </a:ln>
        </p:spPr>
      </p:sp>
      <p:sp>
        <p:nvSpPr>
          <p:cNvPr id="10" name="edge Artist-Genre"/>
          <p:cNvSpPr/>
          <p:nvPr/>
        </p:nvSpPr>
        <p:spPr>
          <a:xfrm>
            <a:off x="5440680" y="3611880"/>
            <a:ext cx="1325880" cy="914"/>
          </a:xfrm>
          <a:prstGeom prst="line">
            <a:avLst/>
          </a:prstGeom>
          <a:noFill/>
          <a:ln w="25400">
            <a:solidFill>
              <a:schemeClr val="accent5"/>
            </a:solidFill>
            <a:prstDash val="solid"/>
          </a:ln>
        </p:spPr>
      </p:sp>
      <p:sp>
        <p:nvSpPr>
          <p:cNvPr id="11" name="derived Fan-Fan"/>
          <p:cNvSpPr/>
          <p:nvPr/>
        </p:nvSpPr>
        <p:spPr>
          <a:xfrm>
            <a:off x="914400" y="1600200"/>
            <a:ext cx="1508760" cy="1005840"/>
          </a:xfrm>
          <a:prstGeom prst="line">
            <a:avLst/>
          </a:prstGeom>
          <a:noFill/>
          <a:ln w="31750">
            <a:solidFill>
              <a:schemeClr val="accent1"/>
            </a:solidFill>
            <a:prstDash val="dash"/>
          </a:ln>
        </p:spPr>
      </p:sp>
      <p:sp>
        <p:nvSpPr>
          <p:cNvPr id="12" name="derived Fan-Segment"/>
          <p:cNvSpPr/>
          <p:nvPr/>
        </p:nvSpPr>
        <p:spPr>
          <a:xfrm flipV="1">
            <a:off x="914400" y="2606040"/>
            <a:ext cx="1508760" cy="1005840"/>
          </a:xfrm>
          <a:prstGeom prst="line">
            <a:avLst/>
          </a:prstGeom>
          <a:noFill/>
          <a:ln w="31750">
            <a:solidFill>
              <a:schemeClr val="accent1"/>
            </a:solidFill>
            <a:prstDash val="dash"/>
          </a:ln>
        </p:spPr>
      </p:sp>
      <p:sp>
        <p:nvSpPr>
          <p:cNvPr id="13" name="derived Fan-Event"/>
          <p:cNvSpPr/>
          <p:nvPr/>
        </p:nvSpPr>
        <p:spPr>
          <a:xfrm>
            <a:off x="2423160" y="2606040"/>
            <a:ext cx="3017520" cy="914"/>
          </a:xfrm>
          <a:prstGeom prst="line">
            <a:avLst/>
          </a:prstGeom>
          <a:noFill/>
          <a:ln w="31750">
            <a:solidFill>
              <a:schemeClr val="accent1"/>
            </a:solidFill>
            <a:prstDash val="dash"/>
          </a:ln>
        </p:spPr>
      </p:sp>
      <p:sp>
        <p:nvSpPr>
          <p:cNvPr id="14" name="Fan node 0"/>
          <p:cNvSpPr/>
          <p:nvPr/>
        </p:nvSpPr>
        <p:spPr>
          <a:xfrm>
            <a:off x="557784" y="1243584"/>
            <a:ext cx="713232" cy="713232"/>
          </a:xfrm>
          <a:prstGeom prst="ellipse">
            <a:avLst/>
          </a:prstGeom>
          <a:solidFill>
            <a:schemeClr val="accent1"/>
          </a:solidFill>
          <a:ln w="12700">
            <a:solidFill>
              <a:schemeClr val="accent1"/>
            </a:solidFill>
            <a:prstDash val="solid"/>
          </a:ln>
        </p:spPr>
      </p:sp>
      <p:sp>
        <p:nvSpPr>
          <p:cNvPr id="15" name="Text 13"/>
          <p:cNvSpPr txBox="1"/>
          <p:nvPr/>
        </p:nvSpPr>
        <p:spPr>
          <a:xfrm>
            <a:off x="420624" y="124358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Fan</a:t>
            </a:r>
            <a:endParaRPr lang="en-US" sz="1000" dirty="0"/>
          </a:p>
        </p:txBody>
      </p:sp>
      <p:sp>
        <p:nvSpPr>
          <p:cNvPr id="16" name="City node 1"/>
          <p:cNvSpPr/>
          <p:nvPr/>
        </p:nvSpPr>
        <p:spPr>
          <a:xfrm>
            <a:off x="2066544" y="1243584"/>
            <a:ext cx="713232" cy="713232"/>
          </a:xfrm>
          <a:prstGeom prst="ellipse">
            <a:avLst/>
          </a:prstGeom>
          <a:solidFill>
            <a:schemeClr val="accent4"/>
          </a:solidFill>
          <a:ln w="12700">
            <a:solidFill>
              <a:schemeClr val="accent4"/>
            </a:solidFill>
            <a:prstDash val="solid"/>
          </a:ln>
        </p:spPr>
      </p:sp>
      <p:sp>
        <p:nvSpPr>
          <p:cNvPr id="17" name="Text 15"/>
          <p:cNvSpPr txBox="1"/>
          <p:nvPr/>
        </p:nvSpPr>
        <p:spPr>
          <a:xfrm>
            <a:off x="1929384" y="124358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City</a:t>
            </a:r>
            <a:endParaRPr lang="en-US" sz="1000" dirty="0"/>
          </a:p>
        </p:txBody>
      </p:sp>
      <p:sp>
        <p:nvSpPr>
          <p:cNvPr id="18" name="Order node 2"/>
          <p:cNvSpPr/>
          <p:nvPr/>
        </p:nvSpPr>
        <p:spPr>
          <a:xfrm>
            <a:off x="3575304" y="1243584"/>
            <a:ext cx="713232" cy="713232"/>
          </a:xfrm>
          <a:prstGeom prst="ellipse">
            <a:avLst/>
          </a:prstGeom>
          <a:solidFill>
            <a:schemeClr val="accent2"/>
          </a:solidFill>
          <a:ln w="12700">
            <a:solidFill>
              <a:schemeClr val="accent2"/>
            </a:solidFill>
            <a:prstDash val="solid"/>
          </a:ln>
        </p:spPr>
      </p:sp>
      <p:sp>
        <p:nvSpPr>
          <p:cNvPr id="19" name="Text 17"/>
          <p:cNvSpPr txBox="1"/>
          <p:nvPr/>
        </p:nvSpPr>
        <p:spPr>
          <a:xfrm>
            <a:off x="3438144" y="124358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Order</a:t>
            </a:r>
            <a:endParaRPr lang="en-US" sz="1000" dirty="0"/>
          </a:p>
        </p:txBody>
      </p:sp>
      <p:sp>
        <p:nvSpPr>
          <p:cNvPr id="20" name="Festival node 3"/>
          <p:cNvSpPr/>
          <p:nvPr/>
        </p:nvSpPr>
        <p:spPr>
          <a:xfrm>
            <a:off x="5084064" y="1243584"/>
            <a:ext cx="713232" cy="713232"/>
          </a:xfrm>
          <a:prstGeom prst="ellipse">
            <a:avLst/>
          </a:prstGeom>
          <a:solidFill>
            <a:schemeClr val="accent4"/>
          </a:solidFill>
          <a:ln w="12700">
            <a:solidFill>
              <a:schemeClr val="accent4"/>
            </a:solidFill>
            <a:prstDash val="solid"/>
          </a:ln>
        </p:spPr>
      </p:sp>
      <p:sp>
        <p:nvSpPr>
          <p:cNvPr id="21" name="Text 19"/>
          <p:cNvSpPr txBox="1"/>
          <p:nvPr/>
        </p:nvSpPr>
        <p:spPr>
          <a:xfrm>
            <a:off x="4946904" y="124358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Festival</a:t>
            </a:r>
            <a:endParaRPr lang="en-US" sz="1000" dirty="0"/>
          </a:p>
        </p:txBody>
      </p:sp>
      <p:sp>
        <p:nvSpPr>
          <p:cNvPr id="22" name="Fan node 1"/>
          <p:cNvSpPr/>
          <p:nvPr/>
        </p:nvSpPr>
        <p:spPr>
          <a:xfrm>
            <a:off x="2066544" y="2249424"/>
            <a:ext cx="713232" cy="713232"/>
          </a:xfrm>
          <a:prstGeom prst="ellipse">
            <a:avLst/>
          </a:prstGeom>
          <a:solidFill>
            <a:schemeClr val="accent1"/>
          </a:solidFill>
          <a:ln w="12700">
            <a:solidFill>
              <a:schemeClr val="accent1"/>
            </a:solidFill>
            <a:prstDash val="solid"/>
          </a:ln>
        </p:spPr>
      </p:sp>
      <p:sp>
        <p:nvSpPr>
          <p:cNvPr id="23" name="Text 21"/>
          <p:cNvSpPr txBox="1"/>
          <p:nvPr/>
        </p:nvSpPr>
        <p:spPr>
          <a:xfrm>
            <a:off x="1929384" y="224942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Fan</a:t>
            </a:r>
            <a:endParaRPr lang="en-US" sz="1000" dirty="0"/>
          </a:p>
        </p:txBody>
      </p:sp>
      <p:sp>
        <p:nvSpPr>
          <p:cNvPr id="24" name="Event node 3"/>
          <p:cNvSpPr/>
          <p:nvPr/>
        </p:nvSpPr>
        <p:spPr>
          <a:xfrm>
            <a:off x="5084064" y="2249424"/>
            <a:ext cx="713232" cy="713232"/>
          </a:xfrm>
          <a:prstGeom prst="ellipse">
            <a:avLst/>
          </a:prstGeom>
          <a:solidFill>
            <a:schemeClr val="accent2"/>
          </a:solidFill>
          <a:ln w="12700">
            <a:solidFill>
              <a:schemeClr val="accent2"/>
            </a:solidFill>
            <a:prstDash val="solid"/>
          </a:ln>
        </p:spPr>
      </p:sp>
      <p:sp>
        <p:nvSpPr>
          <p:cNvPr id="25" name="Text 23"/>
          <p:cNvSpPr txBox="1"/>
          <p:nvPr/>
        </p:nvSpPr>
        <p:spPr>
          <a:xfrm>
            <a:off x="4946904" y="224942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Event</a:t>
            </a:r>
            <a:endParaRPr lang="en-US" sz="1000" dirty="0"/>
          </a:p>
        </p:txBody>
      </p:sp>
      <p:sp>
        <p:nvSpPr>
          <p:cNvPr id="26" name="Segment node 0"/>
          <p:cNvSpPr/>
          <p:nvPr/>
        </p:nvSpPr>
        <p:spPr>
          <a:xfrm>
            <a:off x="557784" y="3255264"/>
            <a:ext cx="713232" cy="713232"/>
          </a:xfrm>
          <a:prstGeom prst="ellipse">
            <a:avLst/>
          </a:prstGeom>
          <a:solidFill>
            <a:schemeClr val="bg1"/>
          </a:solidFill>
          <a:ln w="12700">
            <a:solidFill>
              <a:schemeClr val="bg1"/>
            </a:solidFill>
            <a:prstDash val="solid"/>
          </a:ln>
        </p:spPr>
      </p:sp>
      <p:sp>
        <p:nvSpPr>
          <p:cNvPr id="27" name="Text 25"/>
          <p:cNvSpPr txBox="1"/>
          <p:nvPr/>
        </p:nvSpPr>
        <p:spPr>
          <a:xfrm>
            <a:off x="420624" y="325526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Segment</a:t>
            </a:r>
            <a:endParaRPr lang="en-US" sz="1000" dirty="0"/>
          </a:p>
        </p:txBody>
      </p:sp>
      <p:sp>
        <p:nvSpPr>
          <p:cNvPr id="28" name="Campaign node 2"/>
          <p:cNvSpPr/>
          <p:nvPr/>
        </p:nvSpPr>
        <p:spPr>
          <a:xfrm>
            <a:off x="3575304" y="3255264"/>
            <a:ext cx="713232" cy="713232"/>
          </a:xfrm>
          <a:prstGeom prst="ellipse">
            <a:avLst/>
          </a:prstGeom>
          <a:solidFill>
            <a:schemeClr val="accent3"/>
          </a:solidFill>
          <a:ln w="12700">
            <a:solidFill>
              <a:schemeClr val="accent3"/>
            </a:solidFill>
            <a:prstDash val="solid"/>
          </a:ln>
        </p:spPr>
      </p:sp>
      <p:sp>
        <p:nvSpPr>
          <p:cNvPr id="29" name="Text 27"/>
          <p:cNvSpPr txBox="1"/>
          <p:nvPr/>
        </p:nvSpPr>
        <p:spPr>
          <a:xfrm>
            <a:off x="3438144" y="325526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Campaign</a:t>
            </a:r>
            <a:endParaRPr lang="en-US" sz="1000" dirty="0"/>
          </a:p>
        </p:txBody>
      </p:sp>
      <p:sp>
        <p:nvSpPr>
          <p:cNvPr id="30" name="Artist node 3"/>
          <p:cNvSpPr/>
          <p:nvPr/>
        </p:nvSpPr>
        <p:spPr>
          <a:xfrm>
            <a:off x="5084064" y="3255264"/>
            <a:ext cx="713232" cy="713232"/>
          </a:xfrm>
          <a:prstGeom prst="ellipse">
            <a:avLst/>
          </a:prstGeom>
          <a:solidFill>
            <a:schemeClr val="accent3"/>
          </a:solidFill>
          <a:ln w="12700">
            <a:solidFill>
              <a:schemeClr val="accent3"/>
            </a:solidFill>
            <a:prstDash val="solid"/>
          </a:ln>
        </p:spPr>
      </p:sp>
      <p:sp>
        <p:nvSpPr>
          <p:cNvPr id="31" name="Text 29"/>
          <p:cNvSpPr txBox="1"/>
          <p:nvPr/>
        </p:nvSpPr>
        <p:spPr>
          <a:xfrm>
            <a:off x="4946904" y="325526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Artist</a:t>
            </a:r>
            <a:endParaRPr lang="en-US" sz="1000" dirty="0"/>
          </a:p>
        </p:txBody>
      </p:sp>
      <p:sp>
        <p:nvSpPr>
          <p:cNvPr id="32" name="Genre node 4"/>
          <p:cNvSpPr/>
          <p:nvPr/>
        </p:nvSpPr>
        <p:spPr>
          <a:xfrm>
            <a:off x="6409944" y="3255264"/>
            <a:ext cx="713232" cy="713232"/>
          </a:xfrm>
          <a:prstGeom prst="ellipse">
            <a:avLst/>
          </a:prstGeom>
          <a:solidFill>
            <a:schemeClr val="accent4"/>
          </a:solidFill>
          <a:ln w="12700">
            <a:solidFill>
              <a:schemeClr val="accent4"/>
            </a:solidFill>
            <a:prstDash val="solid"/>
          </a:ln>
        </p:spPr>
      </p:sp>
      <p:sp>
        <p:nvSpPr>
          <p:cNvPr id="33" name="Text 31"/>
          <p:cNvSpPr txBox="1"/>
          <p:nvPr/>
        </p:nvSpPr>
        <p:spPr>
          <a:xfrm>
            <a:off x="6272784" y="3255264"/>
            <a:ext cx="987552" cy="713232"/>
          </a:xfrm>
          <a:prstGeom prst="rect">
            <a:avLst/>
          </a:prstGeom>
          <a:noFill/>
          <a:ln/>
        </p:spPr>
        <p:txBody>
          <a:bodyPr wrap="square" lIns="0" tIns="0" rIns="0" bIns="0" rtlCol="0" anchor="ctr"/>
          <a:lstStyle/>
          <a:p>
            <a:pPr algn="ctr" indent="0" marL="0">
              <a:buNone/>
            </a:pPr>
            <a:r>
              <a:rPr lang="en-US" sz="1000" b="1" dirty="0">
                <a:solidFill>
                  <a:schemeClr val="tx1"/>
                </a:solidFill>
              </a:rPr>
              <a:t>Genre</a:t>
            </a:r>
            <a:endParaRPr lang="en-US" sz="1000" dirty="0"/>
          </a:p>
        </p:txBody>
      </p:sp>
      <p:sp>
        <p:nvSpPr>
          <p:cNvPr id="34" name="Text 32"/>
          <p:cNvSpPr txBox="1"/>
          <p:nvPr/>
        </p:nvSpPr>
        <p:spPr>
          <a:xfrm>
            <a:off x="457200" y="2148840"/>
            <a:ext cx="1188720" cy="228600"/>
          </a:xfrm>
          <a:prstGeom prst="rect">
            <a:avLst/>
          </a:prstGeom>
          <a:noFill/>
          <a:ln/>
        </p:spPr>
        <p:txBody>
          <a:bodyPr wrap="square" lIns="0" tIns="0" rIns="0" bIns="0" rtlCol="0" anchor="ctr"/>
          <a:lstStyle/>
          <a:p>
            <a:pPr algn="l" indent="0" marL="0">
              <a:buNone/>
            </a:pPr>
            <a:r>
              <a:rPr lang="en-US" sz="1000" b="1" dirty="0">
                <a:solidFill>
                  <a:schemeClr val="accent1"/>
                </a:solidFill>
              </a:rPr>
              <a:t>SIMILAR_TASTE</a:t>
            </a:r>
            <a:endParaRPr lang="en-US" sz="1000" dirty="0"/>
          </a:p>
        </p:txBody>
      </p:sp>
      <p:sp>
        <p:nvSpPr>
          <p:cNvPr id="35" name="Text 33"/>
          <p:cNvSpPr txBox="1"/>
          <p:nvPr/>
        </p:nvSpPr>
        <p:spPr>
          <a:xfrm>
            <a:off x="457200" y="2926080"/>
            <a:ext cx="1188720" cy="228600"/>
          </a:xfrm>
          <a:prstGeom prst="rect">
            <a:avLst/>
          </a:prstGeom>
          <a:noFill/>
          <a:ln/>
        </p:spPr>
        <p:txBody>
          <a:bodyPr wrap="square" lIns="0" tIns="0" rIns="0" bIns="0" rtlCol="0" anchor="ctr"/>
          <a:lstStyle/>
          <a:p>
            <a:pPr algn="l" indent="0" marL="0">
              <a:buNone/>
            </a:pPr>
            <a:r>
              <a:rPr lang="en-US" sz="1000" b="1" dirty="0">
                <a:solidFill>
                  <a:schemeClr val="accent1"/>
                </a:solidFill>
              </a:rPr>
              <a:t>IN_SEGMENT</a:t>
            </a:r>
            <a:endParaRPr lang="en-US" sz="1000" dirty="0"/>
          </a:p>
        </p:txBody>
      </p:sp>
      <p:sp>
        <p:nvSpPr>
          <p:cNvPr id="36" name="Text 34"/>
          <p:cNvSpPr txBox="1"/>
          <p:nvPr/>
        </p:nvSpPr>
        <p:spPr>
          <a:xfrm>
            <a:off x="3246120" y="2377440"/>
            <a:ext cx="1371600" cy="228600"/>
          </a:xfrm>
          <a:prstGeom prst="rect">
            <a:avLst/>
          </a:prstGeom>
          <a:noFill/>
          <a:ln/>
        </p:spPr>
        <p:txBody>
          <a:bodyPr wrap="square" lIns="0" tIns="0" rIns="0" bIns="0" rtlCol="0" anchor="ctr"/>
          <a:lstStyle/>
          <a:p>
            <a:pPr algn="ctr" indent="0" marL="0">
              <a:buNone/>
            </a:pPr>
            <a:r>
              <a:rPr lang="en-US" sz="1000" b="1" dirty="0">
                <a:solidFill>
                  <a:schemeClr val="accent1"/>
                </a:solidFill>
              </a:rPr>
              <a:t>LIKELY_TO_BUY</a:t>
            </a:r>
            <a:endParaRPr lang="en-US" sz="1000" dirty="0"/>
          </a:p>
        </p:txBody>
      </p:sp>
      <p:sp>
        <p:nvSpPr>
          <p:cNvPr id="37" name="SIMILAR_TASTE stat card"/>
          <p:cNvSpPr/>
          <p:nvPr/>
        </p:nvSpPr>
        <p:spPr>
          <a:xfrm>
            <a:off x="7315200" y="1234440"/>
            <a:ext cx="1371600" cy="914400"/>
          </a:xfrm>
          <a:prstGeom prst="roundRect">
            <a:avLst>
              <a:gd name="adj" fmla="val 10000"/>
            </a:avLst>
          </a:prstGeom>
          <a:solidFill>
            <a:schemeClr val="tx2"/>
          </a:solidFill>
          <a:ln w="12700">
            <a:solidFill>
              <a:schemeClr val="tx2"/>
            </a:solidFill>
            <a:prstDash val="solid"/>
          </a:ln>
        </p:spPr>
      </p:sp>
      <p:sp>
        <p:nvSpPr>
          <p:cNvPr id="38" name="Text 36"/>
          <p:cNvSpPr txBox="1"/>
          <p:nvPr/>
        </p:nvSpPr>
        <p:spPr>
          <a:xfrm>
            <a:off x="7424928" y="1307592"/>
            <a:ext cx="1188720" cy="411480"/>
          </a:xfrm>
          <a:prstGeom prst="rect">
            <a:avLst/>
          </a:prstGeom>
          <a:noFill/>
          <a:ln/>
        </p:spPr>
        <p:txBody>
          <a:bodyPr wrap="square" lIns="0" tIns="0" rIns="0" bIns="0" rtlCol="0" anchor="ctr"/>
          <a:lstStyle/>
          <a:p>
            <a:pPr indent="0" marL="0">
              <a:buNone/>
            </a:pPr>
            <a:r>
              <a:rPr lang="en-US" sz="2200" b="1" dirty="0">
                <a:solidFill>
                  <a:schemeClr val="accent1"/>
                </a:solidFill>
              </a:rPr>
              <a:t>28,210</a:t>
            </a:r>
            <a:endParaRPr lang="en-US" sz="2200" dirty="0"/>
          </a:p>
        </p:txBody>
      </p:sp>
      <p:sp>
        <p:nvSpPr>
          <p:cNvPr id="39" name="Text 37"/>
          <p:cNvSpPr txBox="1"/>
          <p:nvPr/>
        </p:nvSpPr>
        <p:spPr>
          <a:xfrm>
            <a:off x="7424928" y="1709928"/>
            <a:ext cx="1188720" cy="384048"/>
          </a:xfrm>
          <a:prstGeom prst="rect">
            <a:avLst/>
          </a:prstGeom>
          <a:noFill/>
          <a:ln/>
        </p:spPr>
        <p:txBody>
          <a:bodyPr wrap="square" lIns="0" tIns="0" rIns="0" bIns="0" rtlCol="0" anchor="t"/>
          <a:lstStyle/>
          <a:p>
            <a:pPr indent="0" marL="0">
              <a:buNone/>
            </a:pPr>
            <a:r>
              <a:rPr lang="en-US" sz="1000" dirty="0">
                <a:solidFill>
                  <a:schemeClr val="bg2"/>
                </a:solidFill>
              </a:rPr>
              <a:t>each fan's 10 most similar fans</a:t>
            </a:r>
            <a:endParaRPr lang="en-US" sz="1000" dirty="0"/>
          </a:p>
        </p:txBody>
      </p:sp>
      <p:sp>
        <p:nvSpPr>
          <p:cNvPr id="40" name="IN_SEGMENT stat card"/>
          <p:cNvSpPr/>
          <p:nvPr/>
        </p:nvSpPr>
        <p:spPr>
          <a:xfrm>
            <a:off x="7315200" y="2258568"/>
            <a:ext cx="1371600" cy="914400"/>
          </a:xfrm>
          <a:prstGeom prst="roundRect">
            <a:avLst>
              <a:gd name="adj" fmla="val 10000"/>
            </a:avLst>
          </a:prstGeom>
          <a:solidFill>
            <a:schemeClr val="tx2"/>
          </a:solidFill>
          <a:ln w="12700">
            <a:solidFill>
              <a:schemeClr val="tx2"/>
            </a:solidFill>
            <a:prstDash val="solid"/>
          </a:ln>
        </p:spPr>
      </p:sp>
      <p:sp>
        <p:nvSpPr>
          <p:cNvPr id="41" name="Text 39"/>
          <p:cNvSpPr txBox="1"/>
          <p:nvPr/>
        </p:nvSpPr>
        <p:spPr>
          <a:xfrm>
            <a:off x="7424928" y="2331720"/>
            <a:ext cx="1188720" cy="411480"/>
          </a:xfrm>
          <a:prstGeom prst="rect">
            <a:avLst/>
          </a:prstGeom>
          <a:noFill/>
          <a:ln/>
        </p:spPr>
        <p:txBody>
          <a:bodyPr wrap="square" lIns="0" tIns="0" rIns="0" bIns="0" rtlCol="0" anchor="ctr"/>
          <a:lstStyle/>
          <a:p>
            <a:pPr indent="0" marL="0">
              <a:buNone/>
            </a:pPr>
            <a:r>
              <a:rPr lang="en-US" sz="2200" b="1" dirty="0">
                <a:solidFill>
                  <a:schemeClr val="accent1"/>
                </a:solidFill>
              </a:rPr>
              <a:t>2,795</a:t>
            </a:r>
            <a:endParaRPr lang="en-US" sz="2200" dirty="0"/>
          </a:p>
        </p:txBody>
      </p:sp>
      <p:sp>
        <p:nvSpPr>
          <p:cNvPr id="42" name="Text 40"/>
          <p:cNvSpPr txBox="1"/>
          <p:nvPr/>
        </p:nvSpPr>
        <p:spPr>
          <a:xfrm>
            <a:off x="7424928" y="2734056"/>
            <a:ext cx="1188720" cy="384048"/>
          </a:xfrm>
          <a:prstGeom prst="rect">
            <a:avLst/>
          </a:prstGeom>
          <a:noFill/>
          <a:ln/>
        </p:spPr>
        <p:txBody>
          <a:bodyPr wrap="square" lIns="0" tIns="0" rIns="0" bIns="0" rtlCol="0" anchor="t"/>
          <a:lstStyle/>
          <a:p>
            <a:pPr indent="0" marL="0">
              <a:buNone/>
            </a:pPr>
            <a:r>
              <a:rPr lang="en-US" sz="1000" dirty="0">
                <a:solidFill>
                  <a:schemeClr val="bg2"/>
                </a:solidFill>
              </a:rPr>
              <a:t>fans placed in 18 segments</a:t>
            </a:r>
            <a:endParaRPr lang="en-US" sz="1000" dirty="0"/>
          </a:p>
        </p:txBody>
      </p:sp>
      <p:sp>
        <p:nvSpPr>
          <p:cNvPr id="43" name="LIKELY_TO_BUY stat card"/>
          <p:cNvSpPr/>
          <p:nvPr/>
        </p:nvSpPr>
        <p:spPr>
          <a:xfrm>
            <a:off x="7315200" y="3282696"/>
            <a:ext cx="1371600" cy="914400"/>
          </a:xfrm>
          <a:prstGeom prst="roundRect">
            <a:avLst>
              <a:gd name="adj" fmla="val 10000"/>
            </a:avLst>
          </a:prstGeom>
          <a:solidFill>
            <a:schemeClr val="tx2"/>
          </a:solidFill>
          <a:ln w="12700">
            <a:solidFill>
              <a:schemeClr val="tx2"/>
            </a:solidFill>
            <a:prstDash val="solid"/>
          </a:ln>
        </p:spPr>
      </p:sp>
      <p:sp>
        <p:nvSpPr>
          <p:cNvPr id="44" name="Text 42"/>
          <p:cNvSpPr txBox="1"/>
          <p:nvPr/>
        </p:nvSpPr>
        <p:spPr>
          <a:xfrm>
            <a:off x="7424928" y="3355848"/>
            <a:ext cx="1188720" cy="411480"/>
          </a:xfrm>
          <a:prstGeom prst="rect">
            <a:avLst/>
          </a:prstGeom>
          <a:noFill/>
          <a:ln/>
        </p:spPr>
        <p:txBody>
          <a:bodyPr wrap="square" lIns="0" tIns="0" rIns="0" bIns="0" rtlCol="0" anchor="ctr"/>
          <a:lstStyle/>
          <a:p>
            <a:pPr indent="0" marL="0">
              <a:buNone/>
            </a:pPr>
            <a:r>
              <a:rPr lang="en-US" sz="2200" b="1" dirty="0">
                <a:solidFill>
                  <a:schemeClr val="accent1"/>
                </a:solidFill>
              </a:rPr>
              <a:t>5,250</a:t>
            </a:r>
            <a:endParaRPr lang="en-US" sz="2200" dirty="0"/>
          </a:p>
        </p:txBody>
      </p:sp>
      <p:sp>
        <p:nvSpPr>
          <p:cNvPr id="45" name="Text 43"/>
          <p:cNvSpPr txBox="1"/>
          <p:nvPr/>
        </p:nvSpPr>
        <p:spPr>
          <a:xfrm>
            <a:off x="7424928" y="3758184"/>
            <a:ext cx="1188720" cy="384048"/>
          </a:xfrm>
          <a:prstGeom prst="rect">
            <a:avLst/>
          </a:prstGeom>
          <a:noFill/>
          <a:ln/>
        </p:spPr>
        <p:txBody>
          <a:bodyPr wrap="square" lIns="0" tIns="0" rIns="0" bIns="0" rtlCol="0" anchor="t"/>
          <a:lstStyle/>
          <a:p>
            <a:pPr indent="0" marL="0">
              <a:buNone/>
            </a:pPr>
            <a:r>
              <a:rPr lang="en-US" sz="1000" dirty="0">
                <a:solidFill>
                  <a:schemeClr val="bg2"/>
                </a:solidFill>
              </a:rPr>
              <a:t>scores with reasons</a:t>
            </a:r>
            <a:endParaRPr lang="en-US" sz="1000" dirty="0"/>
          </a:p>
        </p:txBody>
      </p:sp>
      <p:sp>
        <p:nvSpPr>
          <p:cNvPr id="46" name="Text 44"/>
          <p:cNvSpPr txBox="1"/>
          <p:nvPr/>
        </p:nvSpPr>
        <p:spPr>
          <a:xfrm>
            <a:off x="457200" y="4160520"/>
            <a:ext cx="6675120" cy="274320"/>
          </a:xfrm>
          <a:prstGeom prst="rect">
            <a:avLst/>
          </a:prstGeom>
          <a:noFill/>
          <a:ln/>
        </p:spPr>
        <p:txBody>
          <a:bodyPr wrap="square" lIns="0" tIns="0" rIns="0" bIns="0" rtlCol="0" anchor="ctr"/>
          <a:lstStyle/>
          <a:p>
            <a:pPr indent="0" marL="0">
              <a:buNone/>
            </a:pPr>
            <a:r>
              <a:rPr lang="en-US" sz="1100" dirty="0">
                <a:solidFill>
                  <a:schemeClr val="bg2"/>
                </a:solidFill>
              </a:rPr>
              <a:t>Dashed: written by intelligence.py. About 11,600 nodes and 115,000 relationships in total. Simplified view.</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GDS finds segments, Cypher scores shows</a:t>
            </a:r>
            <a:endParaRPr lang="en-US" sz="3000" dirty="0"/>
          </a:p>
        </p:txBody>
      </p:sp>
      <p:sp>
        <p:nvSpPr>
          <p:cNvPr id="3" name="gds group"/>
          <p:cNvSpPr/>
          <p:nvPr/>
        </p:nvSpPr>
        <p:spPr>
          <a:xfrm>
            <a:off x="457200" y="1188720"/>
            <a:ext cx="4873752" cy="3337560"/>
          </a:xfrm>
          <a:prstGeom prst="roundRect">
            <a:avLst>
              <a:gd name="adj" fmla="val 3288"/>
            </a:avLst>
          </a:prstGeom>
          <a:solidFill>
            <a:schemeClr val="tx1"/>
          </a:solidFill>
          <a:ln w="19050">
            <a:solidFill>
              <a:schemeClr val="accent5"/>
            </a:solidFill>
            <a:prstDash val="dash"/>
          </a:ln>
        </p:spPr>
      </p:sp>
      <p:sp>
        <p:nvSpPr>
          <p:cNvPr id="4" name="Text 2"/>
          <p:cNvSpPr txBox="1"/>
          <p:nvPr/>
        </p:nvSpPr>
        <p:spPr>
          <a:xfrm>
            <a:off x="621792" y="1298448"/>
            <a:ext cx="4114800" cy="256032"/>
          </a:xfrm>
          <a:prstGeom prst="rect">
            <a:avLst/>
          </a:prstGeom>
          <a:noFill/>
          <a:ln/>
        </p:spPr>
        <p:txBody>
          <a:bodyPr wrap="square" lIns="0" tIns="0" rIns="0" bIns="0" rtlCol="0" anchor="ctr"/>
          <a:lstStyle/>
          <a:p>
            <a:pPr indent="0" marL="0">
              <a:buNone/>
            </a:pPr>
            <a:r>
              <a:rPr lang="en-US" sz="1000" b="1" spc="100" kern="0" dirty="0">
                <a:solidFill>
                  <a:schemeClr val="accent2"/>
                </a:solidFill>
              </a:rPr>
              <a:t>AURA GRAPH ANALYTICS SESSION</a:t>
            </a:r>
            <a:endParaRPr lang="en-US" sz="1000" dirty="0"/>
          </a:p>
        </p:txBody>
      </p:sp>
      <p:sp>
        <p:nvSpPr>
          <p:cNvPr id="5" name="Text 3"/>
          <p:cNvSpPr txBox="1"/>
          <p:nvPr/>
        </p:nvSpPr>
        <p:spPr>
          <a:xfrm>
            <a:off x="5536692" y="1298448"/>
            <a:ext cx="1371600"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AGENT</a:t>
            </a:r>
            <a:endParaRPr lang="en-US" sz="1000" dirty="0"/>
          </a:p>
        </p:txBody>
      </p:sp>
      <p:sp>
        <p:nvSpPr>
          <p:cNvPr id="6" name="Text 4"/>
          <p:cNvSpPr txBox="1"/>
          <p:nvPr/>
        </p:nvSpPr>
        <p:spPr>
          <a:xfrm>
            <a:off x="7214616" y="1298448"/>
            <a:ext cx="1463040" cy="256032"/>
          </a:xfrm>
          <a:prstGeom prst="rect">
            <a:avLst/>
          </a:prstGeom>
          <a:noFill/>
          <a:ln/>
        </p:spPr>
        <p:txBody>
          <a:bodyPr wrap="square" lIns="0" tIns="0" rIns="0" bIns="0" rtlCol="0" anchor="ctr"/>
          <a:lstStyle/>
          <a:p>
            <a:pPr indent="0" marL="0">
              <a:buNone/>
            </a:pPr>
            <a:r>
              <a:rPr lang="en-US" sz="1000" b="1" spc="100" kern="0" dirty="0">
                <a:solidFill>
                  <a:schemeClr val="accent1"/>
                </a:solidFill>
              </a:rPr>
              <a:t>CYPHER VIA MCP</a:t>
            </a:r>
            <a:endParaRPr lang="en-US" sz="1000" dirty="0"/>
          </a:p>
        </p:txBody>
      </p:sp>
      <p:sp>
        <p:nvSpPr>
          <p:cNvPr id="7" name="Taste graph card"/>
          <p:cNvSpPr/>
          <p:nvPr/>
        </p:nvSpPr>
        <p:spPr>
          <a:xfrm>
            <a:off x="548640" y="1645920"/>
            <a:ext cx="1335024" cy="2743200"/>
          </a:xfrm>
          <a:prstGeom prst="roundRect">
            <a:avLst>
              <a:gd name="adj" fmla="val 6849"/>
            </a:avLst>
          </a:prstGeom>
          <a:solidFill>
            <a:schemeClr val="tx2"/>
          </a:solidFill>
          <a:ln w="12700">
            <a:solidFill>
              <a:schemeClr val="tx2"/>
            </a:solidFill>
            <a:prstDash val="solid"/>
          </a:ln>
        </p:spPr>
      </p:sp>
      <p:sp>
        <p:nvSpPr>
          <p:cNvPr id="8" name="Text 6"/>
          <p:cNvSpPr txBox="1"/>
          <p:nvPr/>
        </p:nvSpPr>
        <p:spPr>
          <a:xfrm>
            <a:off x="685800" y="1783080"/>
            <a:ext cx="457200" cy="411480"/>
          </a:xfrm>
          <a:prstGeom prst="rect">
            <a:avLst/>
          </a:prstGeom>
          <a:noFill/>
          <a:ln/>
        </p:spPr>
        <p:txBody>
          <a:bodyPr wrap="square" lIns="0" tIns="0" rIns="0" bIns="0" rtlCol="0" anchor="ctr"/>
          <a:lstStyle/>
          <a:p>
            <a:pPr indent="0" marL="0">
              <a:buNone/>
            </a:pPr>
            <a:r>
              <a:rPr lang="en-US" sz="2200" b="1" dirty="0">
                <a:solidFill>
                  <a:schemeClr val="accent2"/>
                </a:solidFill>
              </a:rPr>
              <a:t>1</a:t>
            </a:r>
            <a:endParaRPr lang="en-US" sz="2200" dirty="0"/>
          </a:p>
        </p:txBody>
      </p:sp>
      <p:sp>
        <p:nvSpPr>
          <p:cNvPr id="9" name="Text 7"/>
          <p:cNvSpPr txBox="1"/>
          <p:nvPr/>
        </p:nvSpPr>
        <p:spPr>
          <a:xfrm>
            <a:off x="685800" y="2240280"/>
            <a:ext cx="1060704" cy="548640"/>
          </a:xfrm>
          <a:prstGeom prst="rect">
            <a:avLst/>
          </a:prstGeom>
          <a:noFill/>
          <a:ln/>
        </p:spPr>
        <p:txBody>
          <a:bodyPr wrap="square" lIns="0" tIns="0" rIns="0" bIns="0" rtlCol="0" anchor="t"/>
          <a:lstStyle/>
          <a:p>
            <a:pPr indent="0" marL="0">
              <a:buNone/>
            </a:pPr>
            <a:r>
              <a:rPr lang="en-US" sz="1500" b="1" dirty="0">
                <a:solidFill>
                  <a:schemeClr val="bg1"/>
                </a:solidFill>
              </a:rPr>
              <a:t>Taste graph</a:t>
            </a:r>
            <a:endParaRPr lang="en-US" sz="1500" dirty="0"/>
          </a:p>
        </p:txBody>
      </p:sp>
      <p:sp>
        <p:nvSpPr>
          <p:cNvPr id="10" name="Text 8"/>
          <p:cNvSpPr txBox="1"/>
          <p:nvPr/>
        </p:nvSpPr>
        <p:spPr>
          <a:xfrm>
            <a:off x="685800" y="2788920"/>
            <a:ext cx="1060704" cy="960120"/>
          </a:xfrm>
          <a:prstGeom prst="rect">
            <a:avLst/>
          </a:prstGeom>
          <a:noFill/>
          <a:ln/>
        </p:spPr>
        <p:txBody>
          <a:bodyPr wrap="square" lIns="0" tIns="0" rIns="0" bIns="0" rtlCol="0" anchor="t"/>
          <a:lstStyle/>
          <a:p>
            <a:pPr indent="0" marL="0">
              <a:buNone/>
            </a:pPr>
            <a:r>
              <a:rPr lang="en-US" sz="1200" dirty="0">
                <a:solidFill>
                  <a:schemeClr val="bg2"/>
                </a:solidFill>
              </a:rPr>
              <a:t>Fans linked to headliners, festivals and followed artists</a:t>
            </a:r>
            <a:endParaRPr lang="en-US" sz="1200" dirty="0"/>
          </a:p>
        </p:txBody>
      </p:sp>
      <p:sp>
        <p:nvSpPr>
          <p:cNvPr id="11" name="Text 9"/>
          <p:cNvSpPr txBox="1"/>
          <p:nvPr/>
        </p:nvSpPr>
        <p:spPr>
          <a:xfrm>
            <a:off x="685800" y="3840480"/>
            <a:ext cx="1060704" cy="411480"/>
          </a:xfrm>
          <a:prstGeom prst="rect">
            <a:avLst/>
          </a:prstGeom>
          <a:noFill/>
          <a:ln/>
        </p:spPr>
        <p:txBody>
          <a:bodyPr wrap="square" lIns="0" tIns="0" rIns="0" bIns="0" rtlCol="0" anchor="ctr"/>
          <a:lstStyle/>
          <a:p>
            <a:pPr indent="0" marL="0">
              <a:buNone/>
            </a:pPr>
            <a:r>
              <a:rPr lang="en-US" sz="1300" b="1" dirty="0">
                <a:solidFill>
                  <a:schemeClr val="accent2"/>
                </a:solidFill>
              </a:rPr>
              <a:t>2,864 nodes</a:t>
            </a:r>
            <a:endParaRPr lang="en-US" sz="1300" dirty="0"/>
          </a:p>
        </p:txBody>
      </p:sp>
      <p:sp>
        <p:nvSpPr>
          <p:cNvPr id="12" name="Node Similarity card"/>
          <p:cNvSpPr/>
          <p:nvPr/>
        </p:nvSpPr>
        <p:spPr>
          <a:xfrm>
            <a:off x="2226564" y="1645920"/>
            <a:ext cx="1335024" cy="2743200"/>
          </a:xfrm>
          <a:prstGeom prst="roundRect">
            <a:avLst>
              <a:gd name="adj" fmla="val 6849"/>
            </a:avLst>
          </a:prstGeom>
          <a:solidFill>
            <a:schemeClr val="tx2"/>
          </a:solidFill>
          <a:ln w="12700">
            <a:solidFill>
              <a:schemeClr val="tx2"/>
            </a:solidFill>
            <a:prstDash val="solid"/>
          </a:ln>
        </p:spPr>
      </p:sp>
      <p:sp>
        <p:nvSpPr>
          <p:cNvPr id="13" name="Text 11"/>
          <p:cNvSpPr txBox="1"/>
          <p:nvPr/>
        </p:nvSpPr>
        <p:spPr>
          <a:xfrm>
            <a:off x="2363724" y="1783080"/>
            <a:ext cx="457200" cy="411480"/>
          </a:xfrm>
          <a:prstGeom prst="rect">
            <a:avLst/>
          </a:prstGeom>
          <a:noFill/>
          <a:ln/>
        </p:spPr>
        <p:txBody>
          <a:bodyPr wrap="square" lIns="0" tIns="0" rIns="0" bIns="0" rtlCol="0" anchor="ctr"/>
          <a:lstStyle/>
          <a:p>
            <a:pPr indent="0" marL="0">
              <a:buNone/>
            </a:pPr>
            <a:r>
              <a:rPr lang="en-US" sz="2200" b="1" dirty="0">
                <a:solidFill>
                  <a:schemeClr val="accent2"/>
                </a:solidFill>
              </a:rPr>
              <a:t>2</a:t>
            </a:r>
            <a:endParaRPr lang="en-US" sz="2200" dirty="0"/>
          </a:p>
        </p:txBody>
      </p:sp>
      <p:sp>
        <p:nvSpPr>
          <p:cNvPr id="14" name="Text 12"/>
          <p:cNvSpPr txBox="1"/>
          <p:nvPr/>
        </p:nvSpPr>
        <p:spPr>
          <a:xfrm>
            <a:off x="2363724" y="2240280"/>
            <a:ext cx="1060704" cy="548640"/>
          </a:xfrm>
          <a:prstGeom prst="rect">
            <a:avLst/>
          </a:prstGeom>
          <a:noFill/>
          <a:ln/>
        </p:spPr>
        <p:txBody>
          <a:bodyPr wrap="square" lIns="0" tIns="0" rIns="0" bIns="0" rtlCol="0" anchor="t"/>
          <a:lstStyle/>
          <a:p>
            <a:pPr indent="0" marL="0">
              <a:buNone/>
            </a:pPr>
            <a:r>
              <a:rPr lang="en-US" sz="1500" b="1" dirty="0">
                <a:solidFill>
                  <a:schemeClr val="bg1"/>
                </a:solidFill>
              </a:rPr>
              <a:t>Node Similarity</a:t>
            </a:r>
            <a:endParaRPr lang="en-US" sz="1500" dirty="0"/>
          </a:p>
        </p:txBody>
      </p:sp>
      <p:sp>
        <p:nvSpPr>
          <p:cNvPr id="15" name="Text 13"/>
          <p:cNvSpPr txBox="1"/>
          <p:nvPr/>
        </p:nvSpPr>
        <p:spPr>
          <a:xfrm>
            <a:off x="2363724" y="2788920"/>
            <a:ext cx="1060704" cy="960120"/>
          </a:xfrm>
          <a:prstGeom prst="rect">
            <a:avLst/>
          </a:prstGeom>
          <a:noFill/>
          <a:ln/>
        </p:spPr>
        <p:txBody>
          <a:bodyPr wrap="square" lIns="0" tIns="0" rIns="0" bIns="0" rtlCol="0" anchor="t"/>
          <a:lstStyle/>
          <a:p>
            <a:pPr indent="0" marL="0">
              <a:buNone/>
            </a:pPr>
            <a:r>
              <a:rPr lang="en-US" sz="1200" dirty="0">
                <a:solidFill>
                  <a:schemeClr val="bg2"/>
                </a:solidFill>
              </a:rPr>
              <a:t>Weighted Jaccard, top 10 per fan</a:t>
            </a:r>
            <a:endParaRPr lang="en-US" sz="1200" dirty="0"/>
          </a:p>
        </p:txBody>
      </p:sp>
      <p:sp>
        <p:nvSpPr>
          <p:cNvPr id="16" name="Text 14"/>
          <p:cNvSpPr txBox="1"/>
          <p:nvPr/>
        </p:nvSpPr>
        <p:spPr>
          <a:xfrm>
            <a:off x="2363724" y="3840480"/>
            <a:ext cx="1060704" cy="411480"/>
          </a:xfrm>
          <a:prstGeom prst="rect">
            <a:avLst/>
          </a:prstGeom>
          <a:noFill/>
          <a:ln/>
        </p:spPr>
        <p:txBody>
          <a:bodyPr wrap="square" lIns="0" tIns="0" rIns="0" bIns="0" rtlCol="0" anchor="ctr"/>
          <a:lstStyle/>
          <a:p>
            <a:pPr indent="0" marL="0">
              <a:buNone/>
            </a:pPr>
            <a:r>
              <a:rPr lang="en-US" sz="1300" b="1" dirty="0">
                <a:solidFill>
                  <a:schemeClr val="accent2"/>
                </a:solidFill>
              </a:rPr>
              <a:t>28,210 pairs</a:t>
            </a:r>
            <a:endParaRPr lang="en-US" sz="1300" dirty="0"/>
          </a:p>
        </p:txBody>
      </p:sp>
      <p:sp>
        <p:nvSpPr>
          <p:cNvPr id="17" name="Louvain card"/>
          <p:cNvSpPr/>
          <p:nvPr/>
        </p:nvSpPr>
        <p:spPr>
          <a:xfrm>
            <a:off x="3904488" y="1645920"/>
            <a:ext cx="1335024" cy="2743200"/>
          </a:xfrm>
          <a:prstGeom prst="roundRect">
            <a:avLst>
              <a:gd name="adj" fmla="val 6849"/>
            </a:avLst>
          </a:prstGeom>
          <a:solidFill>
            <a:schemeClr val="tx2"/>
          </a:solidFill>
          <a:ln w="12700">
            <a:solidFill>
              <a:schemeClr val="tx2"/>
            </a:solidFill>
            <a:prstDash val="solid"/>
          </a:ln>
        </p:spPr>
      </p:sp>
      <p:sp>
        <p:nvSpPr>
          <p:cNvPr id="18" name="Text 16"/>
          <p:cNvSpPr txBox="1"/>
          <p:nvPr/>
        </p:nvSpPr>
        <p:spPr>
          <a:xfrm>
            <a:off x="4041648" y="1783080"/>
            <a:ext cx="457200" cy="411480"/>
          </a:xfrm>
          <a:prstGeom prst="rect">
            <a:avLst/>
          </a:prstGeom>
          <a:noFill/>
          <a:ln/>
        </p:spPr>
        <p:txBody>
          <a:bodyPr wrap="square" lIns="0" tIns="0" rIns="0" bIns="0" rtlCol="0" anchor="ctr"/>
          <a:lstStyle/>
          <a:p>
            <a:pPr indent="0" marL="0">
              <a:buNone/>
            </a:pPr>
            <a:r>
              <a:rPr lang="en-US" sz="2200" b="1" dirty="0">
                <a:solidFill>
                  <a:schemeClr val="accent2"/>
                </a:solidFill>
              </a:rPr>
              <a:t>3</a:t>
            </a:r>
            <a:endParaRPr lang="en-US" sz="2200" dirty="0"/>
          </a:p>
        </p:txBody>
      </p:sp>
      <p:sp>
        <p:nvSpPr>
          <p:cNvPr id="19" name="Text 17"/>
          <p:cNvSpPr txBox="1"/>
          <p:nvPr/>
        </p:nvSpPr>
        <p:spPr>
          <a:xfrm>
            <a:off x="4041648" y="2240280"/>
            <a:ext cx="1060704" cy="548640"/>
          </a:xfrm>
          <a:prstGeom prst="rect">
            <a:avLst/>
          </a:prstGeom>
          <a:noFill/>
          <a:ln/>
        </p:spPr>
        <p:txBody>
          <a:bodyPr wrap="square" lIns="0" tIns="0" rIns="0" bIns="0" rtlCol="0" anchor="t"/>
          <a:lstStyle/>
          <a:p>
            <a:pPr indent="0" marL="0">
              <a:buNone/>
            </a:pPr>
            <a:r>
              <a:rPr lang="en-US" sz="1500" b="1" dirty="0">
                <a:solidFill>
                  <a:schemeClr val="bg1"/>
                </a:solidFill>
              </a:rPr>
              <a:t>Louvain</a:t>
            </a:r>
            <a:endParaRPr lang="en-US" sz="1500" dirty="0"/>
          </a:p>
        </p:txBody>
      </p:sp>
      <p:sp>
        <p:nvSpPr>
          <p:cNvPr id="20" name="Text 18"/>
          <p:cNvSpPr txBox="1"/>
          <p:nvPr/>
        </p:nvSpPr>
        <p:spPr>
          <a:xfrm>
            <a:off x="4041648" y="2788920"/>
            <a:ext cx="1060704" cy="960120"/>
          </a:xfrm>
          <a:prstGeom prst="rect">
            <a:avLst/>
          </a:prstGeom>
          <a:noFill/>
          <a:ln/>
        </p:spPr>
        <p:txBody>
          <a:bodyPr wrap="square" lIns="0" tIns="0" rIns="0" bIns="0" rtlCol="0" anchor="t"/>
          <a:lstStyle/>
          <a:p>
            <a:pPr indent="0" marL="0">
              <a:buNone/>
            </a:pPr>
            <a:r>
              <a:rPr lang="en-US" sz="1200" dirty="0">
                <a:solidFill>
                  <a:schemeClr val="bg2"/>
                </a:solidFill>
              </a:rPr>
              <a:t>Clusters similar fans (modularity 0.73), keeps groups of 40+</a:t>
            </a:r>
            <a:endParaRPr lang="en-US" sz="1200" dirty="0"/>
          </a:p>
        </p:txBody>
      </p:sp>
      <p:sp>
        <p:nvSpPr>
          <p:cNvPr id="21" name="Text 19"/>
          <p:cNvSpPr txBox="1"/>
          <p:nvPr/>
        </p:nvSpPr>
        <p:spPr>
          <a:xfrm>
            <a:off x="4041648" y="3840480"/>
            <a:ext cx="1060704" cy="411480"/>
          </a:xfrm>
          <a:prstGeom prst="rect">
            <a:avLst/>
          </a:prstGeom>
          <a:noFill/>
          <a:ln/>
        </p:spPr>
        <p:txBody>
          <a:bodyPr wrap="square" lIns="0" tIns="0" rIns="0" bIns="0" rtlCol="0" anchor="ctr"/>
          <a:lstStyle/>
          <a:p>
            <a:pPr indent="0" marL="0">
              <a:buNone/>
            </a:pPr>
            <a:r>
              <a:rPr lang="en-US" sz="1300" b="1" dirty="0">
                <a:solidFill>
                  <a:schemeClr val="accent2"/>
                </a:solidFill>
              </a:rPr>
              <a:t>18 segments</a:t>
            </a:r>
            <a:endParaRPr lang="en-US" sz="1300" dirty="0"/>
          </a:p>
        </p:txBody>
      </p:sp>
      <p:sp>
        <p:nvSpPr>
          <p:cNvPr id="22" name="Agent names card"/>
          <p:cNvSpPr/>
          <p:nvPr/>
        </p:nvSpPr>
        <p:spPr>
          <a:xfrm>
            <a:off x="5490972" y="1645920"/>
            <a:ext cx="1517904" cy="2743200"/>
          </a:xfrm>
          <a:prstGeom prst="roundRect">
            <a:avLst>
              <a:gd name="adj" fmla="val 6024"/>
            </a:avLst>
          </a:prstGeom>
          <a:solidFill>
            <a:schemeClr val="tx2"/>
          </a:solidFill>
          <a:ln w="12700">
            <a:solidFill>
              <a:schemeClr val="tx2"/>
            </a:solidFill>
            <a:prstDash val="solid"/>
          </a:ln>
        </p:spPr>
      </p:sp>
      <p:sp>
        <p:nvSpPr>
          <p:cNvPr id="23" name="Text 21"/>
          <p:cNvSpPr txBox="1"/>
          <p:nvPr/>
        </p:nvSpPr>
        <p:spPr>
          <a:xfrm>
            <a:off x="5628132" y="1783080"/>
            <a:ext cx="457200" cy="411480"/>
          </a:xfrm>
          <a:prstGeom prst="rect">
            <a:avLst/>
          </a:prstGeom>
          <a:noFill/>
          <a:ln/>
        </p:spPr>
        <p:txBody>
          <a:bodyPr wrap="square" lIns="0" tIns="0" rIns="0" bIns="0" rtlCol="0" anchor="ctr"/>
          <a:lstStyle/>
          <a:p>
            <a:pPr indent="0" marL="0">
              <a:buNone/>
            </a:pPr>
            <a:r>
              <a:rPr lang="en-US" sz="2200" b="1" dirty="0">
                <a:solidFill>
                  <a:schemeClr val="accent3"/>
                </a:solidFill>
              </a:rPr>
              <a:t>4</a:t>
            </a:r>
            <a:endParaRPr lang="en-US" sz="2200" dirty="0"/>
          </a:p>
        </p:txBody>
      </p:sp>
      <p:sp>
        <p:nvSpPr>
          <p:cNvPr id="24" name="Text 22"/>
          <p:cNvSpPr txBox="1"/>
          <p:nvPr/>
        </p:nvSpPr>
        <p:spPr>
          <a:xfrm>
            <a:off x="5628132" y="2240280"/>
            <a:ext cx="1243584" cy="548640"/>
          </a:xfrm>
          <a:prstGeom prst="rect">
            <a:avLst/>
          </a:prstGeom>
          <a:noFill/>
          <a:ln/>
        </p:spPr>
        <p:txBody>
          <a:bodyPr wrap="square" lIns="0" tIns="0" rIns="0" bIns="0" rtlCol="0" anchor="t"/>
          <a:lstStyle/>
          <a:p>
            <a:pPr indent="0" marL="0">
              <a:buNone/>
            </a:pPr>
            <a:r>
              <a:rPr lang="en-US" sz="1500" b="1" dirty="0">
                <a:solidFill>
                  <a:schemeClr val="bg1"/>
                </a:solidFill>
              </a:rPr>
              <a:t>Agent names</a:t>
            </a:r>
            <a:endParaRPr lang="en-US" sz="1500" dirty="0"/>
          </a:p>
        </p:txBody>
      </p:sp>
      <p:sp>
        <p:nvSpPr>
          <p:cNvPr id="25" name="Text 23"/>
          <p:cNvSpPr txBox="1"/>
          <p:nvPr/>
        </p:nvSpPr>
        <p:spPr>
          <a:xfrm>
            <a:off x="5628132" y="2788920"/>
            <a:ext cx="1243584" cy="960120"/>
          </a:xfrm>
          <a:prstGeom prst="rect">
            <a:avLst/>
          </a:prstGeom>
          <a:noFill/>
          <a:ln/>
        </p:spPr>
        <p:txBody>
          <a:bodyPr wrap="square" lIns="0" tIns="0" rIns="0" bIns="0" rtlCol="0" anchor="t"/>
          <a:lstStyle/>
          <a:p>
            <a:pPr indent="0" marL="0">
              <a:buNone/>
            </a:pPr>
            <a:r>
              <a:rPr lang="en-US" sz="1200" dirty="0">
                <a:solidFill>
                  <a:schemeClr val="bg2"/>
                </a:solidFill>
              </a:rPr>
              <a:t>Description and suggested action per segment</a:t>
            </a:r>
            <a:endParaRPr lang="en-US" sz="1200" dirty="0"/>
          </a:p>
        </p:txBody>
      </p:sp>
      <p:sp>
        <p:nvSpPr>
          <p:cNvPr id="26" name="Text 24"/>
          <p:cNvSpPr txBox="1"/>
          <p:nvPr/>
        </p:nvSpPr>
        <p:spPr>
          <a:xfrm>
            <a:off x="5628132" y="3840480"/>
            <a:ext cx="1243584" cy="411480"/>
          </a:xfrm>
          <a:prstGeom prst="rect">
            <a:avLst/>
          </a:prstGeom>
          <a:noFill/>
          <a:ln/>
        </p:spPr>
        <p:txBody>
          <a:bodyPr wrap="square" lIns="0" tIns="0" rIns="0" bIns="0" rtlCol="0" anchor="ctr"/>
          <a:lstStyle/>
          <a:p>
            <a:pPr indent="0" marL="0">
              <a:buNone/>
            </a:pPr>
            <a:r>
              <a:rPr lang="en-US" sz="1300" b="1" dirty="0">
                <a:solidFill>
                  <a:schemeClr val="accent3"/>
                </a:solidFill>
              </a:rPr>
              <a:t>via write-cypher</a:t>
            </a:r>
            <a:endParaRPr lang="en-US" sz="1300" dirty="0"/>
          </a:p>
        </p:txBody>
      </p:sp>
      <p:sp>
        <p:nvSpPr>
          <p:cNvPr id="27" name="Score card"/>
          <p:cNvSpPr/>
          <p:nvPr/>
        </p:nvSpPr>
        <p:spPr>
          <a:xfrm>
            <a:off x="7168896" y="1645920"/>
            <a:ext cx="1517904" cy="2743200"/>
          </a:xfrm>
          <a:prstGeom prst="roundRect">
            <a:avLst>
              <a:gd name="adj" fmla="val 6024"/>
            </a:avLst>
          </a:prstGeom>
          <a:solidFill>
            <a:schemeClr val="tx2"/>
          </a:solidFill>
          <a:ln w="12700">
            <a:solidFill>
              <a:schemeClr val="tx2"/>
            </a:solidFill>
            <a:prstDash val="solid"/>
          </a:ln>
        </p:spPr>
      </p:sp>
      <p:sp>
        <p:nvSpPr>
          <p:cNvPr id="28" name="Text 26"/>
          <p:cNvSpPr txBox="1"/>
          <p:nvPr/>
        </p:nvSpPr>
        <p:spPr>
          <a:xfrm>
            <a:off x="7306056" y="1783080"/>
            <a:ext cx="457200" cy="411480"/>
          </a:xfrm>
          <a:prstGeom prst="rect">
            <a:avLst/>
          </a:prstGeom>
          <a:noFill/>
          <a:ln/>
        </p:spPr>
        <p:txBody>
          <a:bodyPr wrap="square" lIns="0" tIns="0" rIns="0" bIns="0" rtlCol="0" anchor="ctr"/>
          <a:lstStyle/>
          <a:p>
            <a:pPr indent="0" marL="0">
              <a:buNone/>
            </a:pPr>
            <a:r>
              <a:rPr lang="en-US" sz="2200" b="1" dirty="0">
                <a:solidFill>
                  <a:schemeClr val="accent1"/>
                </a:solidFill>
              </a:rPr>
              <a:t>5</a:t>
            </a:r>
            <a:endParaRPr lang="en-US" sz="2200" dirty="0"/>
          </a:p>
        </p:txBody>
      </p:sp>
      <p:sp>
        <p:nvSpPr>
          <p:cNvPr id="29" name="Text 27"/>
          <p:cNvSpPr txBox="1"/>
          <p:nvPr/>
        </p:nvSpPr>
        <p:spPr>
          <a:xfrm>
            <a:off x="7306056" y="2240280"/>
            <a:ext cx="1243584" cy="548640"/>
          </a:xfrm>
          <a:prstGeom prst="rect">
            <a:avLst/>
          </a:prstGeom>
          <a:noFill/>
          <a:ln/>
        </p:spPr>
        <p:txBody>
          <a:bodyPr wrap="square" lIns="0" tIns="0" rIns="0" bIns="0" rtlCol="0" anchor="t"/>
          <a:lstStyle/>
          <a:p>
            <a:pPr indent="0" marL="0">
              <a:buNone/>
            </a:pPr>
            <a:r>
              <a:rPr lang="en-US" sz="1500" b="1" dirty="0">
                <a:solidFill>
                  <a:schemeClr val="bg1"/>
                </a:solidFill>
              </a:rPr>
              <a:t>Score</a:t>
            </a:r>
            <a:endParaRPr lang="en-US" sz="1500" dirty="0"/>
          </a:p>
        </p:txBody>
      </p:sp>
      <p:sp>
        <p:nvSpPr>
          <p:cNvPr id="30" name="Text 28"/>
          <p:cNvSpPr txBox="1"/>
          <p:nvPr/>
        </p:nvSpPr>
        <p:spPr>
          <a:xfrm>
            <a:off x="7306056" y="2788920"/>
            <a:ext cx="1243584" cy="960120"/>
          </a:xfrm>
          <a:prstGeom prst="rect">
            <a:avLst/>
          </a:prstGeom>
          <a:noFill/>
          <a:ln/>
        </p:spPr>
        <p:txBody>
          <a:bodyPr wrap="square" lIns="0" tIns="0" rIns="0" bIns="0" rtlCol="0" anchor="t"/>
          <a:lstStyle/>
          <a:p>
            <a:pPr indent="0" marL="0">
              <a:buNone/>
            </a:pPr>
            <a:r>
              <a:rPr lang="en-US" sz="1200" dirty="0">
                <a:solidFill>
                  <a:schemeClr val="bg2"/>
                </a:solidFill>
              </a:rPr>
              <a:t>7 weighted signals, top 150 per upcoming show</a:t>
            </a:r>
            <a:endParaRPr lang="en-US" sz="1200" dirty="0"/>
          </a:p>
        </p:txBody>
      </p:sp>
      <p:sp>
        <p:nvSpPr>
          <p:cNvPr id="31" name="Text 29"/>
          <p:cNvSpPr txBox="1"/>
          <p:nvPr/>
        </p:nvSpPr>
        <p:spPr>
          <a:xfrm>
            <a:off x="7306056" y="3840480"/>
            <a:ext cx="1243584" cy="411480"/>
          </a:xfrm>
          <a:prstGeom prst="rect">
            <a:avLst/>
          </a:prstGeom>
          <a:noFill/>
          <a:ln/>
        </p:spPr>
        <p:txBody>
          <a:bodyPr wrap="square" lIns="0" tIns="0" rIns="0" bIns="0" rtlCol="0" anchor="ctr"/>
          <a:lstStyle/>
          <a:p>
            <a:pPr indent="0" marL="0">
              <a:buNone/>
            </a:pPr>
            <a:r>
              <a:rPr lang="en-US" sz="1300" b="1" dirty="0">
                <a:solidFill>
                  <a:schemeClr val="accent1"/>
                </a:solidFill>
              </a:rPr>
              <a:t>5,250 scores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18 segments that marketing can act on</a:t>
            </a:r>
            <a:endParaRPr lang="en-US" sz="3000" dirty="0"/>
          </a:p>
        </p:txBody>
      </p:sp>
      <p:graphicFrame>
        <p:nvGraphicFramePr>
          <p:cNvPr id="3" name="Chart 0" descr=""/>
          <p:cNvGraphicFramePr/>
          <p:nvPr>
            <p:ph idx="101" type="chart" hasCustomPrompt="1"/>
          </p:nvPr>
        </p:nvGraphicFramePr>
        <p:xfrm>
          <a:off x="457200" y="118872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4" name="superfans card"/>
          <p:cNvSpPr/>
          <p:nvPr/>
        </p:nvSpPr>
        <p:spPr>
          <a:xfrm>
            <a:off x="5669280" y="1234440"/>
            <a:ext cx="3017520" cy="1600200"/>
          </a:xfrm>
          <a:prstGeom prst="roundRect">
            <a:avLst>
              <a:gd name="adj" fmla="val 5714"/>
            </a:avLst>
          </a:prstGeom>
          <a:solidFill>
            <a:schemeClr val="tx2"/>
          </a:solidFill>
          <a:ln w="12700">
            <a:solidFill>
              <a:schemeClr val="tx2"/>
            </a:solidFill>
            <a:prstDash val="solid"/>
          </a:ln>
        </p:spPr>
      </p:sp>
      <p:sp>
        <p:nvSpPr>
          <p:cNvPr id="5" name="Text 2"/>
          <p:cNvSpPr txBox="1"/>
          <p:nvPr/>
        </p:nvSpPr>
        <p:spPr>
          <a:xfrm>
            <a:off x="5870448" y="1371600"/>
            <a:ext cx="2651760" cy="256032"/>
          </a:xfrm>
          <a:prstGeom prst="rect">
            <a:avLst/>
          </a:prstGeom>
          <a:noFill/>
          <a:ln/>
        </p:spPr>
        <p:txBody>
          <a:bodyPr wrap="square" lIns="0" tIns="0" rIns="0" bIns="0" rtlCol="0" anchor="ctr"/>
          <a:lstStyle/>
          <a:p>
            <a:pPr indent="0" marL="0">
              <a:buNone/>
            </a:pPr>
            <a:r>
              <a:rPr lang="en-US" sz="1000" b="1" spc="100" kern="0" dirty="0">
                <a:solidFill>
                  <a:schemeClr val="accent2"/>
                </a:solidFill>
              </a:rPr>
              <a:t>POP SUPERFANS · 421 FANS</a:t>
            </a:r>
            <a:endParaRPr lang="en-US" sz="1000" dirty="0"/>
          </a:p>
        </p:txBody>
      </p:sp>
      <p:sp>
        <p:nvSpPr>
          <p:cNvPr id="6" name="Text 3"/>
          <p:cNvSpPr txBox="1"/>
          <p:nvPr/>
        </p:nvSpPr>
        <p:spPr>
          <a:xfrm>
            <a:off x="5870448" y="1664208"/>
            <a:ext cx="2651760" cy="457200"/>
          </a:xfrm>
          <a:prstGeom prst="rect">
            <a:avLst/>
          </a:prstGeom>
          <a:noFill/>
          <a:ln/>
        </p:spPr>
        <p:txBody>
          <a:bodyPr wrap="square" lIns="0" tIns="0" rIns="0" bIns="0" rtlCol="0" anchor="t"/>
          <a:lstStyle/>
          <a:p>
            <a:pPr indent="0" marL="0">
              <a:buNone/>
            </a:pPr>
            <a:r>
              <a:rPr lang="en-US" sz="1300" dirty="0">
                <a:solidFill>
                  <a:schemeClr val="bg1"/>
                </a:solidFill>
              </a:rPr>
              <a:t>About €1,540 spend per fan, regulars at Nordlicht.</a:t>
            </a:r>
            <a:endParaRPr lang="en-US" sz="1300" dirty="0"/>
          </a:p>
        </p:txBody>
      </p:sp>
      <p:sp>
        <p:nvSpPr>
          <p:cNvPr id="7" name="Text 4"/>
          <p:cNvSpPr txBox="1"/>
          <p:nvPr/>
        </p:nvSpPr>
        <p:spPr>
          <a:xfrm>
            <a:off x="5870448" y="2194560"/>
            <a:ext cx="2651760" cy="502920"/>
          </a:xfrm>
          <a:prstGeom prst="rect">
            <a:avLst/>
          </a:prstGeom>
          <a:noFill/>
          <a:ln/>
        </p:spPr>
        <p:txBody>
          <a:bodyPr wrap="square" lIns="0" tIns="0" rIns="0" bIns="0" rtlCol="0" anchor="t"/>
          <a:lstStyle/>
          <a:p>
            <a:pPr indent="0" marL="0">
              <a:buNone/>
            </a:pPr>
            <a:r>
              <a:rPr lang="en-US" sz="1300" b="1" dirty="0">
                <a:solidFill>
                  <a:schemeClr val="accent2"/>
                </a:solidFill>
              </a:rPr>
              <a:t>Action: early-access presales and VIP upgrades</a:t>
            </a:r>
            <a:endParaRPr lang="en-US" sz="1300" dirty="0"/>
          </a:p>
        </p:txBody>
      </p:sp>
      <p:sp>
        <p:nvSpPr>
          <p:cNvPr id="8" name="lapsing card"/>
          <p:cNvSpPr/>
          <p:nvPr/>
        </p:nvSpPr>
        <p:spPr>
          <a:xfrm>
            <a:off x="5669280" y="3017520"/>
            <a:ext cx="3017520" cy="1600200"/>
          </a:xfrm>
          <a:prstGeom prst="roundRect">
            <a:avLst>
              <a:gd name="adj" fmla="val 5714"/>
            </a:avLst>
          </a:prstGeom>
          <a:solidFill>
            <a:schemeClr val="tx2"/>
          </a:solidFill>
          <a:ln w="12700">
            <a:solidFill>
              <a:schemeClr val="tx2"/>
            </a:solidFill>
            <a:prstDash val="solid"/>
          </a:ln>
        </p:spPr>
      </p:sp>
      <p:sp>
        <p:nvSpPr>
          <p:cNvPr id="9" name="Text 6"/>
          <p:cNvSpPr txBox="1"/>
          <p:nvPr/>
        </p:nvSpPr>
        <p:spPr>
          <a:xfrm>
            <a:off x="5870448" y="3154680"/>
            <a:ext cx="2651760" cy="256032"/>
          </a:xfrm>
          <a:prstGeom prst="rect">
            <a:avLst/>
          </a:prstGeom>
          <a:noFill/>
          <a:ln/>
        </p:spPr>
        <p:txBody>
          <a:bodyPr wrap="square" lIns="0" tIns="0" rIns="0" bIns="0" rtlCol="0" anchor="ctr"/>
          <a:lstStyle/>
          <a:p>
            <a:pPr indent="0" marL="0">
              <a:buNone/>
            </a:pPr>
            <a:r>
              <a:rPr lang="en-US" sz="1000" b="1" spc="100" kern="0" dirty="0">
                <a:solidFill>
                  <a:schemeClr val="accent1"/>
                </a:solidFill>
              </a:rPr>
              <a:t>LAPSING R&amp;B / HIP-HOP · 219</a:t>
            </a:r>
            <a:endParaRPr lang="en-US" sz="1000" dirty="0"/>
          </a:p>
        </p:txBody>
      </p:sp>
      <p:sp>
        <p:nvSpPr>
          <p:cNvPr id="10" name="Text 7"/>
          <p:cNvSpPr txBox="1"/>
          <p:nvPr/>
        </p:nvSpPr>
        <p:spPr>
          <a:xfrm>
            <a:off x="5870448" y="3447288"/>
            <a:ext cx="2651760" cy="502920"/>
          </a:xfrm>
          <a:prstGeom prst="rect">
            <a:avLst/>
          </a:prstGeom>
          <a:noFill/>
          <a:ln/>
        </p:spPr>
        <p:txBody>
          <a:bodyPr wrap="square" lIns="0" tIns="0" rIns="0" bIns="0" rtlCol="0" anchor="t"/>
          <a:lstStyle/>
          <a:p>
            <a:pPr indent="0" marL="0">
              <a:buNone/>
            </a:pPr>
            <a:r>
              <a:rPr lang="en-US" sz="1300" dirty="0">
                <a:solidFill>
                  <a:schemeClr val="bg1"/>
                </a:solidFill>
              </a:rPr>
              <a:t>43% haven't bought in 12 months, the highest churn of any large segment.</a:t>
            </a:r>
            <a:endParaRPr lang="en-US" sz="1300" dirty="0"/>
          </a:p>
        </p:txBody>
      </p:sp>
      <p:sp>
        <p:nvSpPr>
          <p:cNvPr id="11" name="Text 8"/>
          <p:cNvSpPr txBox="1"/>
          <p:nvPr/>
        </p:nvSpPr>
        <p:spPr>
          <a:xfrm>
            <a:off x="5870448" y="3995928"/>
            <a:ext cx="2651760" cy="502920"/>
          </a:xfrm>
          <a:prstGeom prst="rect">
            <a:avLst/>
          </a:prstGeom>
          <a:noFill/>
          <a:ln/>
        </p:spPr>
        <p:txBody>
          <a:bodyPr wrap="square" lIns="0" tIns="0" rIns="0" bIns="0" rtlCol="0" anchor="t"/>
          <a:lstStyle/>
          <a:p>
            <a:pPr indent="0" marL="0">
              <a:buNone/>
            </a:pPr>
            <a:r>
              <a:rPr lang="en-US" sz="1300" b="1" dirty="0">
                <a:solidFill>
                  <a:schemeClr val="accent1"/>
                </a:solidFill>
              </a:rPr>
              <a:t>Action: win-back offer on the next Berlin date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Ask the copilot, get a list with reasons</a:t>
            </a:r>
            <a:endParaRPr lang="en-US" sz="3000" dirty="0"/>
          </a:p>
        </p:txBody>
      </p:sp>
      <p:sp>
        <p:nvSpPr>
          <p:cNvPr id="3" name="question bubble"/>
          <p:cNvSpPr/>
          <p:nvPr/>
        </p:nvSpPr>
        <p:spPr>
          <a:xfrm>
            <a:off x="1188720" y="1188720"/>
            <a:ext cx="4206240" cy="548640"/>
          </a:xfrm>
          <a:prstGeom prst="roundRect">
            <a:avLst>
              <a:gd name="adj" fmla="val 16667"/>
            </a:avLst>
          </a:prstGeom>
          <a:solidFill>
            <a:schemeClr val="accent5"/>
          </a:solidFill>
          <a:ln w="12700">
            <a:solidFill>
              <a:schemeClr val="accent5"/>
            </a:solidFill>
            <a:prstDash val="solid"/>
          </a:ln>
        </p:spPr>
      </p:sp>
      <p:sp>
        <p:nvSpPr>
          <p:cNvPr id="4" name="Text 2"/>
          <p:cNvSpPr txBox="1"/>
          <p:nvPr/>
        </p:nvSpPr>
        <p:spPr>
          <a:xfrm>
            <a:off x="1325880" y="1188720"/>
            <a:ext cx="3977640" cy="548640"/>
          </a:xfrm>
          <a:prstGeom prst="rect">
            <a:avLst/>
          </a:prstGeom>
          <a:noFill/>
          <a:ln/>
        </p:spPr>
        <p:txBody>
          <a:bodyPr wrap="square" lIns="0" tIns="0" rIns="0" bIns="0" rtlCol="0" anchor="ctr"/>
          <a:lstStyle/>
          <a:p>
            <a:pPr indent="0" marL="0">
              <a:buNone/>
            </a:pPr>
            <a:r>
              <a:rPr lang="en-US" sz="1400" i="1" dirty="0">
                <a:solidFill>
                  <a:schemeClr val="bg1"/>
                </a:solidFill>
              </a:rPr>
              <a:t>“Who should we target for Nova Kaiser Berlin 2027, and why?”</a:t>
            </a:r>
            <a:endParaRPr lang="en-US" sz="1400" dirty="0"/>
          </a:p>
        </p:txBody>
      </p:sp>
      <p:sp>
        <p:nvSpPr>
          <p:cNvPr id="5" name="marketer circle"/>
          <p:cNvSpPr/>
          <p:nvPr/>
        </p:nvSpPr>
        <p:spPr>
          <a:xfrm>
            <a:off x="457200" y="1188720"/>
            <a:ext cx="548640" cy="548640"/>
          </a:xfrm>
          <a:prstGeom prst="ellipse">
            <a:avLst/>
          </a:prstGeom>
          <a:solidFill>
            <a:schemeClr val="accent1"/>
          </a:solidFill>
          <a:ln w="12700">
            <a:solidFill>
              <a:schemeClr val="accent1"/>
            </a:solidFill>
            <a:prstDash val="solid"/>
          </a:ln>
        </p:spPr>
      </p:sp>
      <p:pic>
        <p:nvPicPr>
          <p:cNvPr id="6" name="marketer icon" descr="preencoded.png">    </p:cNvPr>
          <p:cNvPicPr>
            <a:picLocks noChangeAspect="1"/>
          </p:cNvPicPr>
          <p:nvPr/>
        </p:nvPicPr>
        <p:blipFill>
          <a:blip r:embed="rId1"/>
          <a:stretch>
            <a:fillRect/>
          </a:stretch>
        </p:blipFill>
        <p:spPr>
          <a:xfrm>
            <a:off x="594360" y="1325880"/>
            <a:ext cx="274320" cy="274320"/>
          </a:xfrm>
          <a:prstGeom prst="rect">
            <a:avLst/>
          </a:prstGeom>
        </p:spPr>
      </p:pic>
      <p:sp>
        <p:nvSpPr>
          <p:cNvPr id="7" name="copilot circle"/>
          <p:cNvSpPr/>
          <p:nvPr/>
        </p:nvSpPr>
        <p:spPr>
          <a:xfrm>
            <a:off x="457200" y="1920240"/>
            <a:ext cx="548640" cy="548640"/>
          </a:xfrm>
          <a:prstGeom prst="ellipse">
            <a:avLst/>
          </a:prstGeom>
          <a:solidFill>
            <a:schemeClr val="accent2"/>
          </a:solidFill>
          <a:ln w="12700">
            <a:solidFill>
              <a:schemeClr val="accent2"/>
            </a:solidFill>
            <a:prstDash val="solid"/>
          </a:ln>
        </p:spPr>
      </p:sp>
      <p:pic>
        <p:nvPicPr>
          <p:cNvPr id="8" name="copilot icon" descr="preencoded.png">    </p:cNvPr>
          <p:cNvPicPr>
            <a:picLocks noChangeAspect="1"/>
          </p:cNvPicPr>
          <p:nvPr/>
        </p:nvPicPr>
        <p:blipFill>
          <a:blip r:embed="rId2"/>
          <a:stretch>
            <a:fillRect/>
          </a:stretch>
        </p:blipFill>
        <p:spPr>
          <a:xfrm>
            <a:off x="594360" y="2057400"/>
            <a:ext cx="274320" cy="274320"/>
          </a:xfrm>
          <a:prstGeom prst="rect">
            <a:avLst/>
          </a:prstGeom>
        </p:spPr>
      </p:pic>
      <p:sp>
        <p:nvSpPr>
          <p:cNvPr id="9" name="answer card"/>
          <p:cNvSpPr/>
          <p:nvPr/>
        </p:nvSpPr>
        <p:spPr>
          <a:xfrm>
            <a:off x="1188720" y="1920240"/>
            <a:ext cx="4206240" cy="2651760"/>
          </a:xfrm>
          <a:prstGeom prst="roundRect">
            <a:avLst>
              <a:gd name="adj" fmla="val 3448"/>
            </a:avLst>
          </a:prstGeom>
          <a:solidFill>
            <a:schemeClr val="tx2"/>
          </a:solidFill>
          <a:ln w="12700">
            <a:solidFill>
              <a:schemeClr val="tx2"/>
            </a:solidFill>
            <a:prstDash val="solid"/>
          </a:ln>
        </p:spPr>
      </p:sp>
      <p:sp>
        <p:nvSpPr>
          <p:cNvPr id="10" name="Text 6"/>
          <p:cNvSpPr txBox="1"/>
          <p:nvPr/>
        </p:nvSpPr>
        <p:spPr>
          <a:xfrm>
            <a:off x="1371600" y="2057400"/>
            <a:ext cx="2926080" cy="365760"/>
          </a:xfrm>
          <a:prstGeom prst="rect">
            <a:avLst/>
          </a:prstGeom>
          <a:noFill/>
          <a:ln/>
        </p:spPr>
        <p:txBody>
          <a:bodyPr wrap="square" lIns="0" tIns="0" rIns="0" bIns="0" rtlCol="0" anchor="ctr"/>
          <a:lstStyle/>
          <a:p>
            <a:pPr indent="0" marL="0">
              <a:buNone/>
            </a:pPr>
            <a:r>
              <a:rPr lang="en-US" sz="1500" b="1" dirty="0">
                <a:solidFill>
                  <a:schemeClr val="bg1"/>
                </a:solidFill>
              </a:rPr>
              <a:t>Ben Yilmaz</a:t>
            </a:r>
            <a:pPr indent="0" marL="0">
              <a:buNone/>
            </a:pPr>
            <a:r>
              <a:rPr lang="en-US" sz="1500" dirty="0">
                <a:solidFill>
                  <a:schemeClr val="bg2"/>
                </a:solidFill>
              </a:rPr>
              <a:t>  ·  Pop Superfans</a:t>
            </a:r>
            <a:endParaRPr lang="en-US" sz="1500" dirty="0"/>
          </a:p>
        </p:txBody>
      </p:sp>
      <p:sp>
        <p:nvSpPr>
          <p:cNvPr id="11" name="Text 7"/>
          <p:cNvSpPr txBox="1"/>
          <p:nvPr/>
        </p:nvSpPr>
        <p:spPr>
          <a:xfrm>
            <a:off x="4343400" y="2011680"/>
            <a:ext cx="914400" cy="457200"/>
          </a:xfrm>
          <a:prstGeom prst="rect">
            <a:avLst/>
          </a:prstGeom>
          <a:noFill/>
          <a:ln/>
        </p:spPr>
        <p:txBody>
          <a:bodyPr wrap="square" lIns="0" tIns="0" rIns="0" bIns="0" rtlCol="0" anchor="ctr"/>
          <a:lstStyle/>
          <a:p>
            <a:pPr algn="r" indent="0" marL="0">
              <a:buNone/>
            </a:pPr>
            <a:r>
              <a:rPr lang="en-US" sz="2800" b="1" dirty="0">
                <a:solidFill>
                  <a:schemeClr val="accent2"/>
                </a:solidFill>
              </a:rPr>
              <a:t>88</a:t>
            </a:r>
            <a:endParaRPr lang="en-US" sz="2800" dirty="0"/>
          </a:p>
        </p:txBody>
      </p:sp>
      <p:sp>
        <p:nvSpPr>
          <p:cNvPr id="12" name="Text 8"/>
          <p:cNvSpPr txBox="1"/>
          <p:nvPr/>
        </p:nvSpPr>
        <p:spPr>
          <a:xfrm>
            <a:off x="1371600" y="2560320"/>
            <a:ext cx="388620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2 fans with similar taste already bought tickets</a:t>
            </a:r>
            <a:endParaRPr lang="en-US" sz="1400" dirty="0"/>
          </a:p>
          <a:p>
            <a:pPr marL="342900" indent="-342900">
              <a:spcAft>
                <a:spcPts val="600"/>
              </a:spcAft>
              <a:buSzPct val="100000"/>
              <a:buChar char="•"/>
            </a:pPr>
            <a:r>
              <a:rPr lang="en-US" sz="1400" dirty="0">
                <a:solidFill>
                  <a:schemeClr val="bg1"/>
                </a:solidFill>
              </a:rPr>
              <a:t>Follows Nova Kaiser</a:t>
            </a:r>
            <a:endParaRPr lang="en-US" sz="1400" dirty="0"/>
          </a:p>
          <a:p>
            <a:pPr marL="342900" indent="-342900">
              <a:spcAft>
                <a:spcPts val="600"/>
              </a:spcAft>
              <a:buSzPct val="100000"/>
              <a:buChar char="•"/>
            </a:pPr>
            <a:r>
              <a:rPr lang="en-US" sz="1400" dirty="0">
                <a:solidFill>
                  <a:schemeClr val="bg1"/>
                </a:solidFill>
              </a:rPr>
              <a:t>50% of past purchases are Pop</a:t>
            </a:r>
            <a:endParaRPr lang="en-US" sz="1400" dirty="0"/>
          </a:p>
          <a:p>
            <a:pPr marL="342900" indent="-342900">
              <a:spcAft>
                <a:spcPts val="600"/>
              </a:spcAft>
              <a:buSzPct val="100000"/>
              <a:buChar char="•"/>
            </a:pPr>
            <a:r>
              <a:rPr lang="en-US" sz="1400" dirty="0">
                <a:solidFill>
                  <a:schemeClr val="bg1"/>
                </a:solidFill>
              </a:rPr>
              <a:t>Told us they like Pop</a:t>
            </a:r>
            <a:endParaRPr lang="en-US" sz="1400" dirty="0"/>
          </a:p>
          <a:p>
            <a:pPr marL="342900" indent="-342900">
              <a:spcAft>
                <a:spcPts val="600"/>
              </a:spcAft>
              <a:buSzPct val="100000"/>
              <a:buChar char="•"/>
            </a:pPr>
            <a:r>
              <a:rPr lang="en-US" sz="1400" dirty="0">
                <a:solidFill>
                  <a:schemeClr val="bg1"/>
                </a:solidFill>
              </a:rPr>
              <a:t>Lives in Berlin</a:t>
            </a:r>
            <a:endParaRPr lang="en-US" sz="1400" dirty="0"/>
          </a:p>
          <a:p>
            <a:pPr marL="342900" indent="-342900">
              <a:spcAft>
                <a:spcPts val="600"/>
              </a:spcAft>
              <a:buSzPct val="100000"/>
              <a:buChar char="•"/>
            </a:pPr>
            <a:r>
              <a:rPr lang="en-US" sz="1400" dirty="0">
                <a:solidFill>
                  <a:schemeClr val="bg1"/>
                </a:solidFill>
              </a:rPr>
              <a:t>Popular in his segment (4.3x average)</a:t>
            </a:r>
            <a:endParaRPr lang="en-US" sz="1400" dirty="0"/>
          </a:p>
        </p:txBody>
      </p:sp>
      <p:sp>
        <p:nvSpPr>
          <p:cNvPr id="13" name="next in list card"/>
          <p:cNvSpPr/>
          <p:nvPr/>
        </p:nvSpPr>
        <p:spPr>
          <a:xfrm>
            <a:off x="5669280" y="1188720"/>
            <a:ext cx="3017520" cy="1737360"/>
          </a:xfrm>
          <a:prstGeom prst="roundRect">
            <a:avLst>
              <a:gd name="adj" fmla="val 5263"/>
            </a:avLst>
          </a:prstGeom>
          <a:solidFill>
            <a:schemeClr val="tx2"/>
          </a:solidFill>
          <a:ln w="12700">
            <a:solidFill>
              <a:schemeClr val="tx2"/>
            </a:solidFill>
            <a:prstDash val="solid"/>
          </a:ln>
        </p:spPr>
      </p:sp>
      <p:sp>
        <p:nvSpPr>
          <p:cNvPr id="14" name="Text 10"/>
          <p:cNvSpPr txBox="1"/>
          <p:nvPr/>
        </p:nvSpPr>
        <p:spPr>
          <a:xfrm>
            <a:off x="5870448" y="1325880"/>
            <a:ext cx="2651760" cy="256032"/>
          </a:xfrm>
          <a:prstGeom prst="rect">
            <a:avLst/>
          </a:prstGeom>
          <a:noFill/>
          <a:ln/>
        </p:spPr>
        <p:txBody>
          <a:bodyPr wrap="square" lIns="0" tIns="0" rIns="0" bIns="0" rtlCol="0" anchor="ctr"/>
          <a:lstStyle/>
          <a:p>
            <a:pPr indent="0" marL="0">
              <a:buNone/>
            </a:pPr>
            <a:r>
              <a:rPr lang="en-US" sz="1000" b="1" spc="100" kern="0" dirty="0">
                <a:solidFill>
                  <a:schemeClr val="accent2"/>
                </a:solidFill>
              </a:rPr>
              <a:t>NEXT IN THE TOP 15</a:t>
            </a:r>
            <a:endParaRPr lang="en-US" sz="1000" dirty="0"/>
          </a:p>
        </p:txBody>
      </p:sp>
      <p:sp>
        <p:nvSpPr>
          <p:cNvPr id="15" name="Text 11"/>
          <p:cNvSpPr txBox="1"/>
          <p:nvPr/>
        </p:nvSpPr>
        <p:spPr>
          <a:xfrm>
            <a:off x="5870448" y="1645920"/>
            <a:ext cx="1828800" cy="274320"/>
          </a:xfrm>
          <a:prstGeom prst="rect">
            <a:avLst/>
          </a:prstGeom>
          <a:noFill/>
          <a:ln/>
        </p:spPr>
        <p:txBody>
          <a:bodyPr wrap="square" lIns="0" tIns="0" rIns="0" bIns="0" rtlCol="0" anchor="ctr"/>
          <a:lstStyle/>
          <a:p>
            <a:pPr indent="0" marL="0">
              <a:buNone/>
            </a:pPr>
            <a:r>
              <a:rPr lang="en-US" sz="1300" dirty="0">
                <a:solidFill>
                  <a:schemeClr val="bg1"/>
                </a:solidFill>
              </a:rPr>
              <a:t>Mia Weber</a:t>
            </a:r>
            <a:endParaRPr lang="en-US" sz="1300" dirty="0"/>
          </a:p>
        </p:txBody>
      </p:sp>
      <p:sp>
        <p:nvSpPr>
          <p:cNvPr id="16" name="Text 12"/>
          <p:cNvSpPr txBox="1"/>
          <p:nvPr/>
        </p:nvSpPr>
        <p:spPr>
          <a:xfrm>
            <a:off x="7863840" y="1645920"/>
            <a:ext cx="640080" cy="274320"/>
          </a:xfrm>
          <a:prstGeom prst="rect">
            <a:avLst/>
          </a:prstGeom>
          <a:noFill/>
          <a:ln/>
        </p:spPr>
        <p:txBody>
          <a:bodyPr wrap="square" lIns="0" tIns="0" rIns="0" bIns="0" rtlCol="0" anchor="ctr"/>
          <a:lstStyle/>
          <a:p>
            <a:pPr algn="r" indent="0" marL="0">
              <a:buNone/>
            </a:pPr>
            <a:r>
              <a:rPr lang="en-US" sz="1300" b="1" dirty="0">
                <a:solidFill>
                  <a:schemeClr val="accent2"/>
                </a:solidFill>
              </a:rPr>
              <a:t>88</a:t>
            </a:r>
            <a:endParaRPr lang="en-US" sz="1300" dirty="0"/>
          </a:p>
        </p:txBody>
      </p:sp>
      <p:sp>
        <p:nvSpPr>
          <p:cNvPr id="17" name="Text 13"/>
          <p:cNvSpPr txBox="1"/>
          <p:nvPr/>
        </p:nvSpPr>
        <p:spPr>
          <a:xfrm>
            <a:off x="5870448" y="1938528"/>
            <a:ext cx="1828800" cy="274320"/>
          </a:xfrm>
          <a:prstGeom prst="rect">
            <a:avLst/>
          </a:prstGeom>
          <a:noFill/>
          <a:ln/>
        </p:spPr>
        <p:txBody>
          <a:bodyPr wrap="square" lIns="0" tIns="0" rIns="0" bIns="0" rtlCol="0" anchor="ctr"/>
          <a:lstStyle/>
          <a:p>
            <a:pPr indent="0" marL="0">
              <a:buNone/>
            </a:pPr>
            <a:r>
              <a:rPr lang="en-US" sz="1300" dirty="0">
                <a:solidFill>
                  <a:schemeClr val="bg1"/>
                </a:solidFill>
              </a:rPr>
              <a:t>Finn Roth</a:t>
            </a:r>
            <a:endParaRPr lang="en-US" sz="1300" dirty="0"/>
          </a:p>
        </p:txBody>
      </p:sp>
      <p:sp>
        <p:nvSpPr>
          <p:cNvPr id="18" name="Text 14"/>
          <p:cNvSpPr txBox="1"/>
          <p:nvPr/>
        </p:nvSpPr>
        <p:spPr>
          <a:xfrm>
            <a:off x="7863840" y="1938528"/>
            <a:ext cx="640080" cy="274320"/>
          </a:xfrm>
          <a:prstGeom prst="rect">
            <a:avLst/>
          </a:prstGeom>
          <a:noFill/>
          <a:ln/>
        </p:spPr>
        <p:txBody>
          <a:bodyPr wrap="square" lIns="0" tIns="0" rIns="0" bIns="0" rtlCol="0" anchor="ctr"/>
          <a:lstStyle/>
          <a:p>
            <a:pPr algn="r" indent="0" marL="0">
              <a:buNone/>
            </a:pPr>
            <a:r>
              <a:rPr lang="en-US" sz="1300" b="1" dirty="0">
                <a:solidFill>
                  <a:schemeClr val="accent2"/>
                </a:solidFill>
              </a:rPr>
              <a:t>87</a:t>
            </a:r>
            <a:endParaRPr lang="en-US" sz="1300" dirty="0"/>
          </a:p>
        </p:txBody>
      </p:sp>
      <p:sp>
        <p:nvSpPr>
          <p:cNvPr id="19" name="Text 15"/>
          <p:cNvSpPr txBox="1"/>
          <p:nvPr/>
        </p:nvSpPr>
        <p:spPr>
          <a:xfrm>
            <a:off x="5870448" y="2231136"/>
            <a:ext cx="1828800" cy="274320"/>
          </a:xfrm>
          <a:prstGeom prst="rect">
            <a:avLst/>
          </a:prstGeom>
          <a:noFill/>
          <a:ln/>
        </p:spPr>
        <p:txBody>
          <a:bodyPr wrap="square" lIns="0" tIns="0" rIns="0" bIns="0" rtlCol="0" anchor="ctr"/>
          <a:lstStyle/>
          <a:p>
            <a:pPr indent="0" marL="0">
              <a:buNone/>
            </a:pPr>
            <a:r>
              <a:rPr lang="en-US" sz="1300" dirty="0">
                <a:solidFill>
                  <a:schemeClr val="bg1"/>
                </a:solidFill>
              </a:rPr>
              <a:t>Ilias Huber</a:t>
            </a:r>
            <a:endParaRPr lang="en-US" sz="1300" dirty="0"/>
          </a:p>
        </p:txBody>
      </p:sp>
      <p:sp>
        <p:nvSpPr>
          <p:cNvPr id="20" name="Text 16"/>
          <p:cNvSpPr txBox="1"/>
          <p:nvPr/>
        </p:nvSpPr>
        <p:spPr>
          <a:xfrm>
            <a:off x="7863840" y="2231136"/>
            <a:ext cx="640080" cy="274320"/>
          </a:xfrm>
          <a:prstGeom prst="rect">
            <a:avLst/>
          </a:prstGeom>
          <a:noFill/>
          <a:ln/>
        </p:spPr>
        <p:txBody>
          <a:bodyPr wrap="square" lIns="0" tIns="0" rIns="0" bIns="0" rtlCol="0" anchor="ctr"/>
          <a:lstStyle/>
          <a:p>
            <a:pPr algn="r" indent="0" marL="0">
              <a:buNone/>
            </a:pPr>
            <a:r>
              <a:rPr lang="en-US" sz="1300" b="1" dirty="0">
                <a:solidFill>
                  <a:schemeClr val="accent2"/>
                </a:solidFill>
              </a:rPr>
              <a:t>87</a:t>
            </a:r>
            <a:endParaRPr lang="en-US" sz="1300" dirty="0"/>
          </a:p>
        </p:txBody>
      </p:sp>
      <p:sp>
        <p:nvSpPr>
          <p:cNvPr id="21" name="Text 17"/>
          <p:cNvSpPr txBox="1"/>
          <p:nvPr/>
        </p:nvSpPr>
        <p:spPr>
          <a:xfrm>
            <a:off x="5870448" y="2523744"/>
            <a:ext cx="1828800" cy="274320"/>
          </a:xfrm>
          <a:prstGeom prst="rect">
            <a:avLst/>
          </a:prstGeom>
          <a:noFill/>
          <a:ln/>
        </p:spPr>
        <p:txBody>
          <a:bodyPr wrap="square" lIns="0" tIns="0" rIns="0" bIns="0" rtlCol="0" anchor="ctr"/>
          <a:lstStyle/>
          <a:p>
            <a:pPr indent="0" marL="0">
              <a:buNone/>
            </a:pPr>
            <a:r>
              <a:rPr lang="en-US" sz="1300" dirty="0">
                <a:solidFill>
                  <a:schemeClr val="bg1"/>
                </a:solidFill>
              </a:rPr>
              <a:t>Zoe Bauer</a:t>
            </a:r>
            <a:endParaRPr lang="en-US" sz="1300" dirty="0"/>
          </a:p>
        </p:txBody>
      </p:sp>
      <p:sp>
        <p:nvSpPr>
          <p:cNvPr id="22" name="Text 18"/>
          <p:cNvSpPr txBox="1"/>
          <p:nvPr/>
        </p:nvSpPr>
        <p:spPr>
          <a:xfrm>
            <a:off x="7863840" y="2523744"/>
            <a:ext cx="640080" cy="274320"/>
          </a:xfrm>
          <a:prstGeom prst="rect">
            <a:avLst/>
          </a:prstGeom>
          <a:noFill/>
          <a:ln/>
        </p:spPr>
        <p:txBody>
          <a:bodyPr wrap="square" lIns="0" tIns="0" rIns="0" bIns="0" rtlCol="0" anchor="ctr"/>
          <a:lstStyle/>
          <a:p>
            <a:pPr algn="r" indent="0" marL="0">
              <a:buNone/>
            </a:pPr>
            <a:r>
              <a:rPr lang="en-US" sz="1300" b="1" dirty="0">
                <a:solidFill>
                  <a:schemeClr val="accent2"/>
                </a:solidFill>
              </a:rPr>
              <a:t>81</a:t>
            </a:r>
            <a:endParaRPr lang="en-US" sz="1300" dirty="0"/>
          </a:p>
        </p:txBody>
      </p:sp>
      <p:sp>
        <p:nvSpPr>
          <p:cNvPr id="23" name="how card"/>
          <p:cNvSpPr/>
          <p:nvPr/>
        </p:nvSpPr>
        <p:spPr>
          <a:xfrm>
            <a:off x="5669280" y="3108960"/>
            <a:ext cx="3017520" cy="1463040"/>
          </a:xfrm>
          <a:prstGeom prst="roundRect">
            <a:avLst>
              <a:gd name="adj" fmla="val 6250"/>
            </a:avLst>
          </a:prstGeom>
          <a:solidFill>
            <a:schemeClr val="tx2"/>
          </a:solidFill>
          <a:ln w="12700">
            <a:solidFill>
              <a:schemeClr val="tx2"/>
            </a:solidFill>
            <a:prstDash val="solid"/>
          </a:ln>
        </p:spPr>
      </p:sp>
      <p:sp>
        <p:nvSpPr>
          <p:cNvPr id="24" name="Text 20"/>
          <p:cNvSpPr txBox="1"/>
          <p:nvPr/>
        </p:nvSpPr>
        <p:spPr>
          <a:xfrm>
            <a:off x="5870448" y="3246120"/>
            <a:ext cx="2651760" cy="256032"/>
          </a:xfrm>
          <a:prstGeom prst="rect">
            <a:avLst/>
          </a:prstGeom>
          <a:noFill/>
          <a:ln/>
        </p:spPr>
        <p:txBody>
          <a:bodyPr wrap="square" lIns="0" tIns="0" rIns="0" bIns="0" rtlCol="0" anchor="ctr"/>
          <a:lstStyle/>
          <a:p>
            <a:pPr indent="0" marL="0">
              <a:buNone/>
            </a:pPr>
            <a:r>
              <a:rPr lang="en-US" sz="1000" b="1" spc="100" kern="0" dirty="0">
                <a:solidFill>
                  <a:schemeClr val="accent3"/>
                </a:solidFill>
              </a:rPr>
              <a:t>HOW IT ANSWERED</a:t>
            </a:r>
            <a:endParaRPr lang="en-US" sz="1000" dirty="0"/>
          </a:p>
        </p:txBody>
      </p:sp>
      <p:sp>
        <p:nvSpPr>
          <p:cNvPr id="25" name="Text 21"/>
          <p:cNvSpPr txBox="1"/>
          <p:nvPr/>
        </p:nvSpPr>
        <p:spPr>
          <a:xfrm>
            <a:off x="5870448" y="3520440"/>
            <a:ext cx="2651760" cy="1005840"/>
          </a:xfrm>
          <a:prstGeom prst="rect">
            <a:avLst/>
          </a:prstGeom>
          <a:noFill/>
          <a:ln/>
        </p:spPr>
        <p:txBody>
          <a:bodyPr wrap="square" lIns="0" tIns="0" rIns="0" bIns="0" rtlCol="0" anchor="t"/>
          <a:lstStyle/>
          <a:p>
            <a:pPr indent="0" marL="0">
              <a:buNone/>
            </a:pPr>
            <a:r>
              <a:rPr lang="en-US" sz="1200" dirty="0">
                <a:solidFill>
                  <a:schemeClr val="bg2"/>
                </a:solidFill>
              </a:rPr>
              <a:t>One read-cypher call over LIKELY_TO_BUY. Only fans who opted in to email are listed. The reasons are stored on the relationship.</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What's next, and what we learned</a:t>
            </a:r>
            <a:endParaRPr lang="en-US" sz="3000" dirty="0"/>
          </a:p>
        </p:txBody>
      </p:sp>
      <p:sp>
        <p:nvSpPr>
          <p:cNvPr id="3" name="Agent Memory circle"/>
          <p:cNvSpPr/>
          <p:nvPr/>
        </p:nvSpPr>
        <p:spPr>
          <a:xfrm>
            <a:off x="457200" y="1280160"/>
            <a:ext cx="594360" cy="594360"/>
          </a:xfrm>
          <a:prstGeom prst="ellipse">
            <a:avLst/>
          </a:prstGeom>
          <a:solidFill>
            <a:schemeClr val="accent1"/>
          </a:solidFill>
          <a:ln w="12700">
            <a:solidFill>
              <a:schemeClr val="accent1"/>
            </a:solidFill>
            <a:prstDash val="solid"/>
          </a:ln>
        </p:spPr>
      </p:sp>
      <p:pic>
        <p:nvPicPr>
          <p:cNvPr id="4" name="Agent Memory icon" descr="preencoded.png">    </p:cNvPr>
          <p:cNvPicPr>
            <a:picLocks noChangeAspect="1"/>
          </p:cNvPicPr>
          <p:nvPr/>
        </p:nvPicPr>
        <p:blipFill>
          <a:blip r:embed="rId1"/>
          <a:stretch>
            <a:fillRect/>
          </a:stretch>
        </p:blipFill>
        <p:spPr>
          <a:xfrm>
            <a:off x="605790" y="1428750"/>
            <a:ext cx="297180" cy="297180"/>
          </a:xfrm>
          <a:prstGeom prst="rect">
            <a:avLst/>
          </a:prstGeom>
        </p:spPr>
      </p:pic>
      <p:sp>
        <p:nvSpPr>
          <p:cNvPr id="5" name="Text 2"/>
          <p:cNvSpPr txBox="1"/>
          <p:nvPr/>
        </p:nvSpPr>
        <p:spPr>
          <a:xfrm>
            <a:off x="1234440" y="1261872"/>
            <a:ext cx="3291840" cy="320040"/>
          </a:xfrm>
          <a:prstGeom prst="rect">
            <a:avLst/>
          </a:prstGeom>
          <a:noFill/>
          <a:ln/>
        </p:spPr>
        <p:txBody>
          <a:bodyPr wrap="square" lIns="0" tIns="0" rIns="0" bIns="0" rtlCol="0" anchor="ctr"/>
          <a:lstStyle/>
          <a:p>
            <a:pPr indent="0" marL="0">
              <a:buNone/>
            </a:pPr>
            <a:r>
              <a:rPr lang="en-US" sz="1700" b="1" dirty="0">
                <a:solidFill>
                  <a:schemeClr val="bg1"/>
                </a:solidFill>
              </a:rPr>
              <a:t>Agent Memory</a:t>
            </a:r>
            <a:endParaRPr lang="en-US" sz="1700" dirty="0"/>
          </a:p>
        </p:txBody>
      </p:sp>
      <p:sp>
        <p:nvSpPr>
          <p:cNvPr id="6" name="Text 3"/>
          <p:cNvSpPr txBox="1"/>
          <p:nvPr/>
        </p:nvSpPr>
        <p:spPr>
          <a:xfrm>
            <a:off x="1234440" y="1581912"/>
            <a:ext cx="3474720" cy="320040"/>
          </a:xfrm>
          <a:prstGeom prst="rect">
            <a:avLst/>
          </a:prstGeom>
          <a:noFill/>
          <a:ln/>
        </p:spPr>
        <p:txBody>
          <a:bodyPr wrap="square" lIns="0" tIns="0" rIns="0" bIns="0" rtlCol="0" anchor="ctr"/>
          <a:lstStyle/>
          <a:p>
            <a:pPr indent="0" marL="0">
              <a:buNone/>
            </a:pPr>
            <a:r>
              <a:rPr lang="en-US" sz="1300" dirty="0">
                <a:solidFill>
                  <a:schemeClr val="bg2"/>
                </a:solidFill>
              </a:rPr>
              <a:t>Remember past targeting: “already sent last week”</a:t>
            </a:r>
            <a:endParaRPr lang="en-US" sz="1300" dirty="0"/>
          </a:p>
        </p:txBody>
      </p:sp>
      <p:sp>
        <p:nvSpPr>
          <p:cNvPr id="7" name="Learn the weights circle"/>
          <p:cNvSpPr/>
          <p:nvPr/>
        </p:nvSpPr>
        <p:spPr>
          <a:xfrm>
            <a:off x="457200" y="2194560"/>
            <a:ext cx="594360" cy="594360"/>
          </a:xfrm>
          <a:prstGeom prst="ellipse">
            <a:avLst/>
          </a:prstGeom>
          <a:solidFill>
            <a:schemeClr val="accent2"/>
          </a:solidFill>
          <a:ln w="12700">
            <a:solidFill>
              <a:schemeClr val="accent2"/>
            </a:solidFill>
            <a:prstDash val="solid"/>
          </a:ln>
        </p:spPr>
      </p:sp>
      <p:pic>
        <p:nvPicPr>
          <p:cNvPr id="8" name="Learn the weights icon" descr="preencoded.png">    </p:cNvPr>
          <p:cNvPicPr>
            <a:picLocks noChangeAspect="1"/>
          </p:cNvPicPr>
          <p:nvPr/>
        </p:nvPicPr>
        <p:blipFill>
          <a:blip r:embed="rId2"/>
          <a:stretch>
            <a:fillRect/>
          </a:stretch>
        </p:blipFill>
        <p:spPr>
          <a:xfrm>
            <a:off x="605790" y="2343150"/>
            <a:ext cx="297180" cy="297180"/>
          </a:xfrm>
          <a:prstGeom prst="rect">
            <a:avLst/>
          </a:prstGeom>
        </p:spPr>
      </p:pic>
      <p:sp>
        <p:nvSpPr>
          <p:cNvPr id="9" name="Text 5"/>
          <p:cNvSpPr txBox="1"/>
          <p:nvPr/>
        </p:nvSpPr>
        <p:spPr>
          <a:xfrm>
            <a:off x="1234440" y="2176272"/>
            <a:ext cx="3291840" cy="320040"/>
          </a:xfrm>
          <a:prstGeom prst="rect">
            <a:avLst/>
          </a:prstGeom>
          <a:noFill/>
          <a:ln/>
        </p:spPr>
        <p:txBody>
          <a:bodyPr wrap="square" lIns="0" tIns="0" rIns="0" bIns="0" rtlCol="0" anchor="ctr"/>
          <a:lstStyle/>
          <a:p>
            <a:pPr indent="0" marL="0">
              <a:buNone/>
            </a:pPr>
            <a:r>
              <a:rPr lang="en-US" sz="1700" b="1" dirty="0">
                <a:solidFill>
                  <a:schemeClr val="bg1"/>
                </a:solidFill>
              </a:rPr>
              <a:t>Learn the weights</a:t>
            </a:r>
            <a:endParaRPr lang="en-US" sz="1700" dirty="0"/>
          </a:p>
        </p:txBody>
      </p:sp>
      <p:sp>
        <p:nvSpPr>
          <p:cNvPr id="10" name="Text 6"/>
          <p:cNvSpPr txBox="1"/>
          <p:nvPr/>
        </p:nvSpPr>
        <p:spPr>
          <a:xfrm>
            <a:off x="1234440" y="2496312"/>
            <a:ext cx="3474720" cy="320040"/>
          </a:xfrm>
          <a:prstGeom prst="rect">
            <a:avLst/>
          </a:prstGeom>
          <a:noFill/>
          <a:ln/>
        </p:spPr>
        <p:txBody>
          <a:bodyPr wrap="square" lIns="0" tIns="0" rIns="0" bIns="0" rtlCol="0" anchor="ctr"/>
          <a:lstStyle/>
          <a:p>
            <a:pPr indent="0" marL="0">
              <a:buNone/>
            </a:pPr>
            <a:r>
              <a:rPr lang="en-US" sz="1300" dirty="0">
                <a:solidFill>
                  <a:schemeClr val="bg2"/>
                </a:solidFill>
              </a:rPr>
              <a:t>Backtest LIKELY_TO_BUY on past on-sales</a:t>
            </a:r>
            <a:endParaRPr lang="en-US" sz="1300" dirty="0"/>
          </a:p>
        </p:txBody>
      </p:sp>
      <p:sp>
        <p:nvSpPr>
          <p:cNvPr id="11" name="Real exports circle"/>
          <p:cNvSpPr/>
          <p:nvPr/>
        </p:nvSpPr>
        <p:spPr>
          <a:xfrm>
            <a:off x="457200" y="3108960"/>
            <a:ext cx="594360" cy="594360"/>
          </a:xfrm>
          <a:prstGeom prst="ellipse">
            <a:avLst/>
          </a:prstGeom>
          <a:solidFill>
            <a:schemeClr val="accent3"/>
          </a:solidFill>
          <a:ln w="12700">
            <a:solidFill>
              <a:schemeClr val="accent3"/>
            </a:solidFill>
            <a:prstDash val="solid"/>
          </a:ln>
        </p:spPr>
      </p:sp>
      <p:pic>
        <p:nvPicPr>
          <p:cNvPr id="12" name="Real exports icon" descr="preencoded.png">    </p:cNvPr>
          <p:cNvPicPr>
            <a:picLocks noChangeAspect="1"/>
          </p:cNvPicPr>
          <p:nvPr/>
        </p:nvPicPr>
        <p:blipFill>
          <a:blip r:embed="rId3"/>
          <a:stretch>
            <a:fillRect/>
          </a:stretch>
        </p:blipFill>
        <p:spPr>
          <a:xfrm>
            <a:off x="605790" y="3257550"/>
            <a:ext cx="297180" cy="297180"/>
          </a:xfrm>
          <a:prstGeom prst="rect">
            <a:avLst/>
          </a:prstGeom>
        </p:spPr>
      </p:pic>
      <p:sp>
        <p:nvSpPr>
          <p:cNvPr id="13" name="Text 8"/>
          <p:cNvSpPr txBox="1"/>
          <p:nvPr/>
        </p:nvSpPr>
        <p:spPr>
          <a:xfrm>
            <a:off x="1234440" y="3090672"/>
            <a:ext cx="3291840" cy="320040"/>
          </a:xfrm>
          <a:prstGeom prst="rect">
            <a:avLst/>
          </a:prstGeom>
          <a:noFill/>
          <a:ln/>
        </p:spPr>
        <p:txBody>
          <a:bodyPr wrap="square" lIns="0" tIns="0" rIns="0" bIns="0" rtlCol="0" anchor="ctr"/>
          <a:lstStyle/>
          <a:p>
            <a:pPr indent="0" marL="0">
              <a:buNone/>
            </a:pPr>
            <a:r>
              <a:rPr lang="en-US" sz="1700" b="1" dirty="0">
                <a:solidFill>
                  <a:schemeClr val="bg1"/>
                </a:solidFill>
              </a:rPr>
              <a:t>Real exports</a:t>
            </a:r>
            <a:endParaRPr lang="en-US" sz="1700" dirty="0"/>
          </a:p>
        </p:txBody>
      </p:sp>
      <p:sp>
        <p:nvSpPr>
          <p:cNvPr id="14" name="Text 9"/>
          <p:cNvSpPr txBox="1"/>
          <p:nvPr/>
        </p:nvSpPr>
        <p:spPr>
          <a:xfrm>
            <a:off x="1234440" y="3410712"/>
            <a:ext cx="3474720" cy="320040"/>
          </a:xfrm>
          <a:prstGeom prst="rect">
            <a:avLst/>
          </a:prstGeom>
          <a:noFill/>
          <a:ln/>
        </p:spPr>
        <p:txBody>
          <a:bodyPr wrap="square" lIns="0" tIns="0" rIns="0" bIns="0" rtlCol="0" anchor="ctr"/>
          <a:lstStyle/>
          <a:p>
            <a:pPr indent="0" marL="0">
              <a:buNone/>
            </a:pPr>
            <a:r>
              <a:rPr lang="en-US" sz="1300" dirty="0">
                <a:solidFill>
                  <a:schemeClr val="bg2"/>
                </a:solidFill>
              </a:rPr>
              <a:t>Ticketing and email exports into the same model</a:t>
            </a:r>
            <a:endParaRPr lang="en-US" sz="1300" dirty="0"/>
          </a:p>
        </p:txBody>
      </p:sp>
      <p:sp>
        <p:nvSpPr>
          <p:cNvPr id="15" name="feedback card"/>
          <p:cNvSpPr/>
          <p:nvPr/>
        </p:nvSpPr>
        <p:spPr>
          <a:xfrm>
            <a:off x="5029200" y="1234440"/>
            <a:ext cx="3657600" cy="2514600"/>
          </a:xfrm>
          <a:prstGeom prst="roundRect">
            <a:avLst>
              <a:gd name="adj" fmla="val 3636"/>
            </a:avLst>
          </a:prstGeom>
          <a:solidFill>
            <a:schemeClr val="tx2"/>
          </a:solidFill>
          <a:ln w="12700">
            <a:solidFill>
              <a:schemeClr val="tx2"/>
            </a:solidFill>
            <a:prstDash val="solid"/>
          </a:ln>
        </p:spPr>
      </p:sp>
      <p:sp>
        <p:nvSpPr>
          <p:cNvPr id="16" name="Text 11"/>
          <p:cNvSpPr txBox="1"/>
          <p:nvPr/>
        </p:nvSpPr>
        <p:spPr>
          <a:xfrm>
            <a:off x="5257800" y="1389888"/>
            <a:ext cx="3200400" cy="256032"/>
          </a:xfrm>
          <a:prstGeom prst="rect">
            <a:avLst/>
          </a:prstGeom>
          <a:noFill/>
          <a:ln/>
        </p:spPr>
        <p:txBody>
          <a:bodyPr wrap="square" lIns="0" tIns="0" rIns="0" bIns="0" rtlCol="0" anchor="ctr"/>
          <a:lstStyle/>
          <a:p>
            <a:pPr indent="0" marL="0">
              <a:buNone/>
            </a:pPr>
            <a:r>
              <a:rPr lang="en-US" sz="1000" b="1" spc="100" kern="0" dirty="0">
                <a:solidFill>
                  <a:schemeClr val="accent1"/>
                </a:solidFill>
              </a:rPr>
              <a:t>PRODUCT FEEDBACK</a:t>
            </a:r>
            <a:endParaRPr lang="en-US" sz="1000" dirty="0"/>
          </a:p>
        </p:txBody>
      </p:sp>
      <p:sp>
        <p:nvSpPr>
          <p:cNvPr id="17" name="Text 12"/>
          <p:cNvSpPr txBox="1"/>
          <p:nvPr/>
        </p:nvSpPr>
        <p:spPr>
          <a:xfrm>
            <a:off x="5257800" y="1737360"/>
            <a:ext cx="3246120" cy="2103120"/>
          </a:xfrm>
          <a:prstGeom prst="rect">
            <a:avLst/>
          </a:prstGeom>
          <a:noFill/>
          <a:ln/>
        </p:spPr>
        <p:txBody>
          <a:bodyPr wrap="square" lIns="0" tIns="0" rIns="0" bIns="0" rtlCol="0" anchor="t"/>
          <a:lstStyle/>
          <a:p>
            <a:pPr marL="342900" indent="-342900">
              <a:spcAft>
                <a:spcPts val="800"/>
              </a:spcAft>
              <a:buSzPct val="100000"/>
              <a:buChar char="•"/>
            </a:pPr>
            <a:r>
              <a:rPr lang="en-US" sz="1300" b="1" dirty="0">
                <a:solidFill>
                  <a:schemeClr val="bg1"/>
                </a:solidFill>
              </a:rPr>
              <a:t>Claude Code reads .mcp.json,</a:t>
            </a:r>
            <a:pPr indent="0" marL="0">
              <a:spcAft>
                <a:spcPts val="800"/>
              </a:spcAft>
              <a:buNone/>
            </a:pPr>
            <a:r>
              <a:rPr lang="en-US" sz="1300" dirty="0">
                <a:solidFill>
                  <a:schemeClr val="bg2"/>
                </a:solidFill>
              </a:rPr>
              <a:t> not the workshop's mcp.json</a:t>
            </a:r>
            <a:endParaRPr lang="en-US" sz="1300" dirty="0"/>
          </a:p>
          <a:p>
            <a:pPr marL="342900" indent="-342900">
              <a:spcAft>
                <a:spcPts val="800"/>
              </a:spcAft>
              <a:buSzPct val="100000"/>
              <a:buChar char="•"/>
            </a:pPr>
            <a:r>
              <a:rPr lang="en-US" sz="1300" b="1" dirty="0">
                <a:solidFill>
                  <a:schemeClr val="bg1"/>
                </a:solidFill>
              </a:rPr>
              <a:t>MCP requests time out at about 40 s.</a:t>
            </a:r>
            <a:pPr indent="0" marL="0">
              <a:spcAft>
                <a:spcPts val="800"/>
              </a:spcAft>
              <a:buNone/>
            </a:pPr>
            <a:r>
              <a:rPr lang="en-US" sz="1300" dirty="0">
                <a:solidFill>
                  <a:schemeClr val="bg2"/>
                </a:solidFill>
              </a:rPr>
              <a:t> Graph Analytics sessions take ~2 min, so we start and poll</a:t>
            </a:r>
            <a:endParaRPr lang="en-US" sz="1300" dirty="0"/>
          </a:p>
          <a:p>
            <a:pPr marL="342900" indent="-342900">
              <a:spcAft>
                <a:spcPts val="800"/>
              </a:spcAft>
              <a:buSzPct val="100000"/>
              <a:buChar char="•"/>
            </a:pPr>
            <a:r>
              <a:rPr lang="en-US" sz="1300" b="1" dirty="0">
                <a:solidFill>
                  <a:schemeClr val="bg1"/>
                </a:solidFill>
              </a:rPr>
              <a:t>MCP returns dates as {}.</a:t>
            </a:r>
            <a:pPr indent="0" marL="0">
              <a:spcAft>
                <a:spcPts val="800"/>
              </a:spcAft>
              <a:buNone/>
            </a:pPr>
            <a:r>
              <a:rPr lang="en-US" sz="1300" dirty="0">
                <a:solidFill>
                  <a:schemeClr val="bg2"/>
                </a:solidFill>
              </a:rPr>
              <a:t> Wrap them in toString()</a:t>
            </a:r>
            <a:endParaRPr lang="en-US" sz="1300" dirty="0"/>
          </a:p>
        </p:txBody>
      </p:sp>
      <p:sp>
        <p:nvSpPr>
          <p:cNvPr id="18" name="Text 13"/>
          <p:cNvSpPr txBox="1"/>
          <p:nvPr/>
        </p:nvSpPr>
        <p:spPr>
          <a:xfrm>
            <a:off x="457200" y="4160520"/>
            <a:ext cx="3657600" cy="411480"/>
          </a:xfrm>
          <a:prstGeom prst="rect">
            <a:avLst/>
          </a:prstGeom>
          <a:noFill/>
          <a:ln/>
        </p:spPr>
        <p:txBody>
          <a:bodyPr wrap="square" lIns="0" tIns="0" rIns="0" bIns="0" rtlCol="0" anchor="ctr"/>
          <a:lstStyle/>
          <a:p>
            <a:pPr indent="0" marL="0">
              <a:buNone/>
            </a:pPr>
            <a:r>
              <a:rPr lang="en-US" sz="1800" b="1" dirty="0">
                <a:solidFill>
                  <a:schemeClr val="accent2"/>
                </a:solidFill>
              </a:rPr>
              <a:t>Thank you</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Fan Journey Stage">
  <a:themeElements>
    <a:clrScheme name="Fan Journey Stage">
      <a:dk1>
        <a:srgbClr val="15111F"/>
      </a:dk1>
      <a:lt1>
        <a:srgbClr val="FFFFFF"/>
      </a:lt1>
      <a:dk2>
        <a:srgbClr val="231C33"/>
      </a:dk2>
      <a:lt2>
        <a:srgbClr val="B3ACC7"/>
      </a:lt2>
      <a:accent1>
        <a:srgbClr val="FF3D7F"/>
      </a:accent1>
      <a:accent2>
        <a:srgbClr val="2EE6C9"/>
      </a:accent2>
      <a:accent3>
        <a:srgbClr val="FFB547"/>
      </a:accent3>
      <a:accent4>
        <a:srgbClr val="8B7CFF"/>
      </a:accent4>
      <a:accent5>
        <a:srgbClr val="3A3052"/>
      </a:accent5>
      <a:accent6>
        <a:srgbClr val="6E6688"/>
      </a:accent6>
      <a:hlink>
        <a:srgbClr val="2EE6C9"/>
      </a:hlink>
      <a:folHlink>
        <a:srgbClr val="8B7CFF"/>
      </a:folHlink>
    </a:clrScheme>
    <a:fontScheme name="Fan Journey Stag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Fan Journey Copilot</dc:title>
  <dc:subject>PptxGenJS Presentation</dc:subject>
  <dc:creator>Murtaza Jabalpurwala</dc:creator>
  <cp:lastModifiedBy>Murtaza Jabalpurwala</cp:lastModifiedBy>
  <cp:revision>1</cp:revision>
  <dcterms:created xsi:type="dcterms:W3CDTF">2026-10-23T17:50:14Z</dcterms:created>
  <dcterms:modified xsi:type="dcterms:W3CDTF">2026-10-23T17:50:14Z</dcterms:modified>
</cp:coreProperties>
</file>